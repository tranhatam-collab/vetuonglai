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10515600" cy="36576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Người Thật · Việc Thật · Bằng Chứng Kiểm Chứng Được</a:t>
            </a:r>
            <a:endParaRPr lang="en-US" sz="1400" dirty="0"/>
          </a:p>
        </p:txBody>
      </p:sp>
      <p:sp>
        <p:nvSpPr>
          <p:cNvPr id="3" name="Text 1"/>
          <p:cNvSpPr/>
          <p:nvPr/>
        </p:nvSpPr>
        <p:spPr>
          <a:xfrm>
            <a:off x="548640" y="2194560"/>
            <a:ext cx="10972800" cy="1463040"/>
          </a:xfrm>
          <a:prstGeom prst="rect">
            <a:avLst/>
          </a:prstGeom>
          <a:noFill/>
          <a:ln/>
        </p:spPr>
        <p:txBody>
          <a:bodyPr wrap="square"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VETUONGLAI</a:t>
            </a:r>
            <a:endParaRPr lang="en-US" sz="6000" dirty="0"/>
          </a:p>
        </p:txBody>
      </p:sp>
      <p:sp>
        <p:nvSpPr>
          <p:cNvPr id="4" name="Text 2"/>
          <p:cNvSpPr/>
          <p:nvPr/>
        </p:nvSpPr>
        <p:spPr>
          <a:xfrm>
            <a:off x="548640" y="3657600"/>
            <a:ext cx="10972800" cy="731520"/>
          </a:xfrm>
          <a:prstGeom prst="rect">
            <a:avLst/>
          </a:prstGeom>
          <a:noFill/>
          <a:ln/>
        </p:spPr>
        <p:txBody>
          <a:bodyPr wrap="square" rtlCol="0" anchor="ctr"/>
          <a:lstStyle/>
          <a:p>
            <a:pPr indent="0" marL="0">
              <a:buNone/>
            </a:pPr>
            <a:r>
              <a:rPr lang="en-US" sz="2200" dirty="0">
                <a:solidFill>
                  <a:srgbClr val="CADCFC"/>
                </a:solidFill>
                <a:latin typeface="Calibri" pitchFamily="34" charset="0"/>
                <a:ea typeface="Calibri" pitchFamily="34" charset="-122"/>
                <a:cs typeface="Calibri" pitchFamily="34" charset="-120"/>
              </a:rPr>
              <a:t>Siêu Ứng Dụng Định Danh Đầu Tiên Của Việt Nam</a:t>
            </a:r>
            <a:endParaRPr lang="en-US" sz="2200" dirty="0"/>
          </a:p>
        </p:txBody>
      </p:sp>
      <p:sp>
        <p:nvSpPr>
          <p:cNvPr id="5" name="Shape 3"/>
          <p:cNvSpPr/>
          <p:nvPr/>
        </p:nvSpPr>
        <p:spPr>
          <a:xfrm>
            <a:off x="548640" y="4572000"/>
            <a:ext cx="1097280" cy="73152"/>
          </a:xfrm>
          <a:prstGeom prst="rect">
            <a:avLst/>
          </a:prstGeom>
          <a:solidFill>
            <a:srgbClr val="FACC15"/>
          </a:solidFill>
          <a:ln/>
        </p:spPr>
      </p:sp>
      <p:sp>
        <p:nvSpPr>
          <p:cNvPr id="6" name="Text 4"/>
          <p:cNvSpPr/>
          <p:nvPr/>
        </p:nvSpPr>
        <p:spPr>
          <a:xfrm>
            <a:off x="548640" y="4754880"/>
            <a:ext cx="731520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Pitch Nhà Đầu Tư · Tháng 5/2026</a:t>
            </a:r>
            <a:endParaRPr lang="en-US" sz="1400" dirty="0"/>
          </a:p>
        </p:txBody>
      </p:sp>
      <p:sp>
        <p:nvSpPr>
          <p:cNvPr id="7" name="Text 5"/>
          <p:cNvSpPr/>
          <p:nvPr/>
        </p:nvSpPr>
        <p:spPr>
          <a:xfrm>
            <a:off x="548640" y="621792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TUYỆT MẬT — Chỉ Người Nhận Được Phép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01 · VẤN ĐỀ</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Định danh số đang phân mảnh trên khắp Việt Nam</a:t>
            </a:r>
            <a:endParaRPr lang="en-US" sz="3000" dirty="0"/>
          </a:p>
        </p:txBody>
      </p:sp>
      <p:sp>
        <p:nvSpPr>
          <p:cNvPr id="4" name="Text 2"/>
          <p:cNvSpPr/>
          <p:nvPr/>
        </p:nvSpPr>
        <p:spPr>
          <a:xfrm>
            <a:off x="548640" y="1645920"/>
            <a:ext cx="5486400" cy="4114800"/>
          </a:xfrm>
          <a:prstGeom prst="rect">
            <a:avLst/>
          </a:prstGeom>
          <a:noFill/>
          <a:ln/>
        </p:spPr>
        <p:txBody>
          <a:bodyPr wrap="square" rtlCol="0" anchor="t"/>
          <a:lstStyle/>
          <a:p>
            <a:pPr indent="0" marL="0">
              <a:spcAft>
                <a:spcPts val="1200"/>
              </a:spcAft>
              <a:buNone/>
            </a:pPr>
            <a:r>
              <a:rPr lang="en-US" sz="1600" dirty="0">
                <a:solidFill>
                  <a:srgbClr val="1F2937"/>
                </a:solidFill>
                <a:latin typeface="Calibri" pitchFamily="34" charset="0"/>
                <a:ea typeface="Calibri" pitchFamily="34" charset="-122"/>
                <a:cs typeface="Calibri" pitchFamily="34" charset="-120"/>
              </a:rPr>
              <a:t>Người dùng Việt Nam sống trong các silo không kết nối. Chứng chỉ của người học từ khoá học tư không có giá trị ở nền tảng việc làm. Uy tín của freelancer trên một marketplace không thể chuyển sang marketplace khác. Cộng đồng của creator trên Facebook bị nhốt — không thể di chuyển.</a:t>
            </a:r>
            <a:endParaRPr lang="en-US" sz="1600" dirty="0"/>
          </a:p>
          <a:p>
            <a:pPr indent="0" marL="0">
              <a:spcAft>
                <a:spcPts val="1200"/>
              </a:spcAft>
              <a:buNone/>
            </a:pPr>
            <a:endParaRPr lang="en-US" sz="1600" dirty="0"/>
          </a:p>
          <a:p>
            <a:pPr indent="0" marL="0">
              <a:spcAft>
                <a:spcPts val="1200"/>
              </a:spcAft>
              <a:buNone/>
            </a:pPr>
            <a:r>
              <a:rPr lang="en-US" sz="1600" dirty="0">
                <a:solidFill>
                  <a:srgbClr val="1F2937"/>
                </a:solidFill>
                <a:latin typeface="Calibri" pitchFamily="34" charset="0"/>
                <a:ea typeface="Calibri" pitchFamily="34" charset="-122"/>
                <a:cs typeface="Calibri" pitchFamily="34" charset="-120"/>
              </a:rPr>
              <a:t>Mỗi nền tảng sở hữu danh tính của người dùng, nhưng không nền tảng nào sở hữu xác minh portable, do người dùng kiểm soát.</a:t>
            </a:r>
            <a:endParaRPr lang="en-US" sz="1600" dirty="0"/>
          </a:p>
          <a:p>
            <a:pPr indent="0" marL="0">
              <a:spcAft>
                <a:spcPts val="1200"/>
              </a:spcAft>
              <a:buNone/>
            </a:pPr>
            <a:endParaRPr lang="en-US" sz="1600" dirty="0"/>
          </a:p>
          <a:p>
            <a:pPr indent="0" marL="0">
              <a:spcAft>
                <a:spcPts val="1200"/>
              </a:spcAft>
              <a:buNone/>
            </a:pPr>
            <a:r>
              <a:rPr lang="en-US" sz="1600" dirty="0">
                <a:solidFill>
                  <a:srgbClr val="1F2937"/>
                </a:solidFill>
                <a:latin typeface="Calibri" pitchFamily="34" charset="0"/>
                <a:ea typeface="Calibri" pitchFamily="34" charset="-122"/>
                <a:cs typeface="Calibri" pitchFamily="34" charset="-120"/>
              </a:rPr>
              <a:t>Kết quả: ma sát cao, niềm tin thấp, KYC lặp đi lặp lại, không có hạ tầng chung cho thập kỷ tiếp theo của nền kinh tế số.</a:t>
            </a:r>
            <a:endParaRPr lang="en-US" sz="1600" dirty="0"/>
          </a:p>
        </p:txBody>
      </p:sp>
      <p:sp>
        <p:nvSpPr>
          <p:cNvPr id="5" name="Shape 3"/>
          <p:cNvSpPr/>
          <p:nvPr/>
        </p:nvSpPr>
        <p:spPr>
          <a:xfrm>
            <a:off x="6400800" y="1645920"/>
            <a:ext cx="5120640" cy="914400"/>
          </a:xfrm>
          <a:prstGeom prst="rect">
            <a:avLst/>
          </a:prstGeom>
          <a:solidFill>
            <a:srgbClr val="1E2761"/>
          </a:solidFill>
          <a:ln/>
        </p:spPr>
      </p:sp>
      <p:sp>
        <p:nvSpPr>
          <p:cNvPr id="6" name="Text 4"/>
          <p:cNvSpPr/>
          <p:nvPr/>
        </p:nvSpPr>
        <p:spPr>
          <a:xfrm>
            <a:off x="6537960" y="1691640"/>
            <a:ext cx="2286000" cy="822960"/>
          </a:xfrm>
          <a:prstGeom prst="rect">
            <a:avLst/>
          </a:prstGeom>
          <a:noFill/>
          <a:ln/>
        </p:spPr>
        <p:txBody>
          <a:bodyPr wrap="square" rtlCol="0" anchor="ctr"/>
          <a:lstStyle/>
          <a:p>
            <a:pPr indent="0" marL="0">
              <a:buNone/>
            </a:pPr>
            <a:r>
              <a:rPr lang="en-US" sz="3200" b="1" dirty="0">
                <a:solidFill>
                  <a:srgbClr val="FACC15"/>
                </a:solidFill>
                <a:latin typeface="Calibri" pitchFamily="34" charset="0"/>
                <a:ea typeface="Calibri" pitchFamily="34" charset="-122"/>
                <a:cs typeface="Calibri" pitchFamily="34" charset="-120"/>
              </a:rPr>
              <a:t>77M</a:t>
            </a:r>
            <a:endParaRPr lang="en-US" sz="3200" dirty="0"/>
          </a:p>
        </p:txBody>
      </p:sp>
      <p:sp>
        <p:nvSpPr>
          <p:cNvPr id="7" name="Text 5"/>
          <p:cNvSpPr/>
          <p:nvPr/>
        </p:nvSpPr>
        <p:spPr>
          <a:xfrm>
            <a:off x="8869680" y="1737360"/>
            <a:ext cx="2651760" cy="731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Người dùng internet VN · không có ID số portable</a:t>
            </a:r>
            <a:endParaRPr lang="en-US" sz="1100" dirty="0"/>
          </a:p>
        </p:txBody>
      </p:sp>
      <p:sp>
        <p:nvSpPr>
          <p:cNvPr id="8" name="Shape 6"/>
          <p:cNvSpPr/>
          <p:nvPr/>
        </p:nvSpPr>
        <p:spPr>
          <a:xfrm>
            <a:off x="6400800" y="2697480"/>
            <a:ext cx="5120640" cy="914400"/>
          </a:xfrm>
          <a:prstGeom prst="rect">
            <a:avLst/>
          </a:prstGeom>
          <a:solidFill>
            <a:srgbClr val="1E2761"/>
          </a:solidFill>
          <a:ln/>
        </p:spPr>
      </p:sp>
      <p:sp>
        <p:nvSpPr>
          <p:cNvPr id="9" name="Text 7"/>
          <p:cNvSpPr/>
          <p:nvPr/>
        </p:nvSpPr>
        <p:spPr>
          <a:xfrm>
            <a:off x="6537960" y="2743200"/>
            <a:ext cx="2286000" cy="822960"/>
          </a:xfrm>
          <a:prstGeom prst="rect">
            <a:avLst/>
          </a:prstGeom>
          <a:noFill/>
          <a:ln/>
        </p:spPr>
        <p:txBody>
          <a:bodyPr wrap="square" rtlCol="0" anchor="ctr"/>
          <a:lstStyle/>
          <a:p>
            <a:pPr indent="0" marL="0">
              <a:buNone/>
            </a:pPr>
            <a:r>
              <a:rPr lang="en-US" sz="3200" b="1" dirty="0">
                <a:solidFill>
                  <a:srgbClr val="FACC15"/>
                </a:solidFill>
                <a:latin typeface="Calibri" pitchFamily="34" charset="0"/>
                <a:ea typeface="Calibri" pitchFamily="34" charset="-122"/>
                <a:cs typeface="Calibri" pitchFamily="34" charset="-120"/>
              </a:rPr>
              <a:t>5.3M</a:t>
            </a:r>
            <a:endParaRPr lang="en-US" sz="3200" dirty="0"/>
          </a:p>
        </p:txBody>
      </p:sp>
      <p:sp>
        <p:nvSpPr>
          <p:cNvPr id="10" name="Text 8"/>
          <p:cNvSpPr/>
          <p:nvPr/>
        </p:nvSpPr>
        <p:spPr>
          <a:xfrm>
            <a:off x="8869680" y="2788920"/>
            <a:ext cx="2651760" cy="731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Kiều bào · không được phục vụ bởi sản phẩm định danh tiếng Việt</a:t>
            </a:r>
            <a:endParaRPr lang="en-US" sz="1100" dirty="0"/>
          </a:p>
        </p:txBody>
      </p:sp>
      <p:sp>
        <p:nvSpPr>
          <p:cNvPr id="11" name="Shape 9"/>
          <p:cNvSpPr/>
          <p:nvPr/>
        </p:nvSpPr>
        <p:spPr>
          <a:xfrm>
            <a:off x="6400800" y="3749040"/>
            <a:ext cx="5120640" cy="914400"/>
          </a:xfrm>
          <a:prstGeom prst="rect">
            <a:avLst/>
          </a:prstGeom>
          <a:solidFill>
            <a:srgbClr val="1E2761"/>
          </a:solidFill>
          <a:ln/>
        </p:spPr>
      </p:sp>
      <p:sp>
        <p:nvSpPr>
          <p:cNvPr id="12" name="Text 10"/>
          <p:cNvSpPr/>
          <p:nvPr/>
        </p:nvSpPr>
        <p:spPr>
          <a:xfrm>
            <a:off x="6537960" y="3794760"/>
            <a:ext cx="2286000" cy="822960"/>
          </a:xfrm>
          <a:prstGeom prst="rect">
            <a:avLst/>
          </a:prstGeom>
          <a:noFill/>
          <a:ln/>
        </p:spPr>
        <p:txBody>
          <a:bodyPr wrap="square" rtlCol="0" anchor="ctr"/>
          <a:lstStyle/>
          <a:p>
            <a:pPr indent="0" marL="0">
              <a:buNone/>
            </a:pPr>
            <a:r>
              <a:rPr lang="en-US" sz="3200" b="1" dirty="0">
                <a:solidFill>
                  <a:srgbClr val="FACC15"/>
                </a:solidFill>
                <a:latin typeface="Calibri" pitchFamily="34" charset="0"/>
                <a:ea typeface="Calibri" pitchFamily="34" charset="-122"/>
                <a:cs typeface="Calibri" pitchFamily="34" charset="-120"/>
              </a:rPr>
              <a:t>$19B</a:t>
            </a:r>
            <a:endParaRPr lang="en-US" sz="3200" dirty="0"/>
          </a:p>
        </p:txBody>
      </p:sp>
      <p:sp>
        <p:nvSpPr>
          <p:cNvPr id="13" name="Text 11"/>
          <p:cNvSpPr/>
          <p:nvPr/>
        </p:nvSpPr>
        <p:spPr>
          <a:xfrm>
            <a:off x="8869680" y="3840480"/>
            <a:ext cx="2651760" cy="731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Kiều hối VN hàng năm · ma sát niềm tin tốn 2-4% mỗi giao dịch</a:t>
            </a:r>
            <a:endParaRPr lang="en-US" sz="1100" dirty="0"/>
          </a:p>
        </p:txBody>
      </p:sp>
      <p:sp>
        <p:nvSpPr>
          <p:cNvPr id="14" name="Shape 12"/>
          <p:cNvSpPr/>
          <p:nvPr/>
        </p:nvSpPr>
        <p:spPr>
          <a:xfrm>
            <a:off x="6400800" y="4800600"/>
            <a:ext cx="5120640" cy="914400"/>
          </a:xfrm>
          <a:prstGeom prst="rect">
            <a:avLst/>
          </a:prstGeom>
          <a:solidFill>
            <a:srgbClr val="1E2761"/>
          </a:solidFill>
          <a:ln/>
        </p:spPr>
      </p:sp>
      <p:sp>
        <p:nvSpPr>
          <p:cNvPr id="15" name="Text 13"/>
          <p:cNvSpPr/>
          <p:nvPr/>
        </p:nvSpPr>
        <p:spPr>
          <a:xfrm>
            <a:off x="6537960" y="4846320"/>
            <a:ext cx="2286000" cy="822960"/>
          </a:xfrm>
          <a:prstGeom prst="rect">
            <a:avLst/>
          </a:prstGeom>
          <a:noFill/>
          <a:ln/>
        </p:spPr>
        <p:txBody>
          <a:bodyPr wrap="square" rtlCol="0" anchor="ctr"/>
          <a:lstStyle/>
          <a:p>
            <a:pPr indent="0" marL="0">
              <a:buNone/>
            </a:pPr>
            <a:r>
              <a:rPr lang="en-US" sz="3200" b="1" dirty="0">
                <a:solidFill>
                  <a:srgbClr val="FACC15"/>
                </a:solidFill>
                <a:latin typeface="Calibri" pitchFamily="34" charset="0"/>
                <a:ea typeface="Calibri" pitchFamily="34" charset="-122"/>
                <a:cs typeface="Calibri" pitchFamily="34" charset="-120"/>
              </a:rPr>
              <a:t>145%</a:t>
            </a:r>
            <a:endParaRPr lang="en-US" sz="3200" dirty="0"/>
          </a:p>
        </p:txBody>
      </p:sp>
      <p:sp>
        <p:nvSpPr>
          <p:cNvPr id="16" name="Text 14"/>
          <p:cNvSpPr/>
          <p:nvPr/>
        </p:nvSpPr>
        <p:spPr>
          <a:xfrm>
            <a:off x="8869680" y="4892040"/>
            <a:ext cx="2651760" cy="731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Tăng gian lận học vấn 2020-2024 (toàn cầu)</a:t>
            </a:r>
            <a:endParaRPr lang="en-US" sz="1100" dirty="0"/>
          </a:p>
        </p:txBody>
      </p:sp>
      <p:sp>
        <p:nvSpPr>
          <p:cNvPr id="17" name="Text 15"/>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18" name="Text 16"/>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02 · GIẢI PHÁP</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Một danh tính. Một ví. Một lớp bằng chứng.</a:t>
            </a:r>
            <a:endParaRPr lang="en-US" sz="3000" dirty="0"/>
          </a:p>
        </p:txBody>
      </p:sp>
      <p:sp>
        <p:nvSpPr>
          <p:cNvPr id="4" name="Text 2"/>
          <p:cNvSpPr/>
          <p:nvPr/>
        </p:nvSpPr>
        <p:spPr>
          <a:xfrm>
            <a:off x="548640" y="1554480"/>
            <a:ext cx="10972800" cy="6400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Vetuonglai hợp nhất 16 tên miền quanh một danh tính Verifiable Credentials và ví định trước.</a:t>
            </a:r>
            <a:endParaRPr lang="en-US" sz="1800" dirty="0"/>
          </a:p>
        </p:txBody>
      </p:sp>
      <p:sp>
        <p:nvSpPr>
          <p:cNvPr id="5" name="Shape 3"/>
          <p:cNvSpPr/>
          <p:nvPr/>
        </p:nvSpPr>
        <p:spPr>
          <a:xfrm>
            <a:off x="548640" y="2468880"/>
            <a:ext cx="3566160" cy="3474720"/>
          </a:xfrm>
          <a:prstGeom prst="rect">
            <a:avLst/>
          </a:prstGeom>
          <a:solidFill>
            <a:srgbClr val="CADCFC"/>
          </a:solidFill>
          <a:ln/>
        </p:spPr>
      </p:sp>
      <p:sp>
        <p:nvSpPr>
          <p:cNvPr id="6" name="Shape 4"/>
          <p:cNvSpPr/>
          <p:nvPr/>
        </p:nvSpPr>
        <p:spPr>
          <a:xfrm>
            <a:off x="822960" y="2697480"/>
            <a:ext cx="548640" cy="548640"/>
          </a:xfrm>
          <a:prstGeom prst="ellipse">
            <a:avLst/>
          </a:prstGeom>
          <a:solidFill>
            <a:srgbClr val="1E2761"/>
          </a:solidFill>
          <a:ln/>
        </p:spPr>
      </p:sp>
      <p:sp>
        <p:nvSpPr>
          <p:cNvPr id="7" name="Text 5"/>
          <p:cNvSpPr/>
          <p:nvPr/>
        </p:nvSpPr>
        <p:spPr>
          <a:xfrm>
            <a:off x="822960" y="26974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463040" y="2697480"/>
            <a:ext cx="2560320" cy="54864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Định danh (vtl1 + VC)</a:t>
            </a:r>
            <a:endParaRPr lang="en-US" sz="1800" dirty="0"/>
          </a:p>
        </p:txBody>
      </p:sp>
      <p:sp>
        <p:nvSpPr>
          <p:cNvPr id="9" name="Text 7"/>
          <p:cNvSpPr/>
          <p:nvPr/>
        </p:nvSpPr>
        <p:spPr>
          <a:xfrm>
            <a:off x="822960" y="3383280"/>
            <a:ext cx="3108960" cy="2468880"/>
          </a:xfrm>
          <a:prstGeom prst="rect">
            <a:avLst/>
          </a:prstGeom>
          <a:noFill/>
          <a:ln/>
        </p:spPr>
        <p:txBody>
          <a:bodyPr wrap="square" rtlCol="0" anchor="t"/>
          <a:lstStyle/>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Mỗi tài khoản tự nhận một địa chỉ ví vtl1 (chuẩn Bech32, 36 ký tự). Cùng địa chỉ neo chứng chỉ W3C VC — hoàn thành khoá học, lịch sử việc làm, KYC. Portable, ký số, xác minh được mà không cần liên hệ server của chúng tôi.</a:t>
            </a:r>
            <a:endParaRPr lang="en-US" sz="1300" dirty="0"/>
          </a:p>
        </p:txBody>
      </p:sp>
      <p:sp>
        <p:nvSpPr>
          <p:cNvPr id="10" name="Shape 8"/>
          <p:cNvSpPr/>
          <p:nvPr/>
        </p:nvSpPr>
        <p:spPr>
          <a:xfrm>
            <a:off x="4325112" y="2468880"/>
            <a:ext cx="3566160" cy="3474720"/>
          </a:xfrm>
          <a:prstGeom prst="rect">
            <a:avLst/>
          </a:prstGeom>
          <a:solidFill>
            <a:srgbClr val="CADCFC"/>
          </a:solidFill>
          <a:ln/>
        </p:spPr>
      </p:sp>
      <p:sp>
        <p:nvSpPr>
          <p:cNvPr id="11" name="Shape 9"/>
          <p:cNvSpPr/>
          <p:nvPr/>
        </p:nvSpPr>
        <p:spPr>
          <a:xfrm>
            <a:off x="4599432" y="2697480"/>
            <a:ext cx="548640" cy="548640"/>
          </a:xfrm>
          <a:prstGeom prst="ellipse">
            <a:avLst/>
          </a:prstGeom>
          <a:solidFill>
            <a:srgbClr val="1E2761"/>
          </a:solidFill>
          <a:ln/>
        </p:spPr>
      </p:sp>
      <p:sp>
        <p:nvSpPr>
          <p:cNvPr id="12" name="Text 10"/>
          <p:cNvSpPr/>
          <p:nvPr/>
        </p:nvSpPr>
        <p:spPr>
          <a:xfrm>
            <a:off x="4599432" y="26974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5239512" y="2697480"/>
            <a:ext cx="2560320" cy="54864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Ví (sổ cái VND)</a:t>
            </a:r>
            <a:endParaRPr lang="en-US" sz="1800" dirty="0"/>
          </a:p>
        </p:txBody>
      </p:sp>
      <p:sp>
        <p:nvSpPr>
          <p:cNvPr id="14" name="Text 12"/>
          <p:cNvSpPr/>
          <p:nvPr/>
        </p:nvSpPr>
        <p:spPr>
          <a:xfrm>
            <a:off x="4599432" y="3383280"/>
            <a:ext cx="3108960" cy="2468880"/>
          </a:xfrm>
          <a:prstGeom prst="rect">
            <a:avLst/>
          </a:prstGeom>
          <a:noFill/>
          <a:ln/>
        </p:spPr>
        <p:txBody>
          <a:bodyPr wrap="square" rtlCol="0" anchor="t"/>
          <a:lstStyle/>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Số dư pending, available, tax-held, withdrawn. 11 endpoint API: credit, debit, transfer, payout request, settlement, KYC, lịch sử. Bảo vệ idempotency. Internal token auth cho B2B credit/debit.</a:t>
            </a:r>
            <a:endParaRPr lang="en-US" sz="1300" dirty="0"/>
          </a:p>
        </p:txBody>
      </p:sp>
      <p:sp>
        <p:nvSpPr>
          <p:cNvPr id="15" name="Shape 13"/>
          <p:cNvSpPr/>
          <p:nvPr/>
        </p:nvSpPr>
        <p:spPr>
          <a:xfrm>
            <a:off x="8101584" y="2468880"/>
            <a:ext cx="3566160" cy="3474720"/>
          </a:xfrm>
          <a:prstGeom prst="rect">
            <a:avLst/>
          </a:prstGeom>
          <a:solidFill>
            <a:srgbClr val="CADCFC"/>
          </a:solidFill>
          <a:ln/>
        </p:spPr>
      </p:sp>
      <p:sp>
        <p:nvSpPr>
          <p:cNvPr id="16" name="Shape 14"/>
          <p:cNvSpPr/>
          <p:nvPr/>
        </p:nvSpPr>
        <p:spPr>
          <a:xfrm>
            <a:off x="8375904" y="2697480"/>
            <a:ext cx="548640" cy="548640"/>
          </a:xfrm>
          <a:prstGeom prst="ellipse">
            <a:avLst/>
          </a:prstGeom>
          <a:solidFill>
            <a:srgbClr val="1E2761"/>
          </a:solidFill>
          <a:ln/>
        </p:spPr>
      </p:sp>
      <p:sp>
        <p:nvSpPr>
          <p:cNvPr id="17" name="Text 15"/>
          <p:cNvSpPr/>
          <p:nvPr/>
        </p:nvSpPr>
        <p:spPr>
          <a:xfrm>
            <a:off x="8375904" y="26974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9015984" y="2697480"/>
            <a:ext cx="2560320" cy="54864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Thương hiệu &amp; giọng nói</a:t>
            </a:r>
            <a:endParaRPr lang="en-US" sz="1800" dirty="0"/>
          </a:p>
        </p:txBody>
      </p:sp>
      <p:sp>
        <p:nvSpPr>
          <p:cNvPr id="19" name="Text 17"/>
          <p:cNvSpPr/>
          <p:nvPr/>
        </p:nvSpPr>
        <p:spPr>
          <a:xfrm>
            <a:off x="8375904" y="3383280"/>
            <a:ext cx="3108960" cy="2468880"/>
          </a:xfrm>
          <a:prstGeom prst="rect">
            <a:avLst/>
          </a:prstGeom>
          <a:noFill/>
          <a:ln/>
        </p:spPr>
        <p:txBody>
          <a:bodyPr wrap="square" rtlCol="0" anchor="t"/>
          <a:lstStyle/>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5 thuộc tính giọng (Thật, Ấm, Thực tế, Tỉnh thức, Có chủ đích) cấm "giàu nhanh" và dark patterns. Song ngữ từ ngày đầu. Tin cậy dài hạn tích luỹ nhanh hơn quảng cáo có thể mua reach.</a:t>
            </a:r>
            <a:endParaRPr lang="en-US" sz="1300" dirty="0"/>
          </a:p>
        </p:txBody>
      </p:sp>
      <p:sp>
        <p:nvSpPr>
          <p:cNvPr id="20" name="Text 18"/>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21" name="Text 19"/>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03 · SẢN PHẨM</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16 tên miền, một danh tính thống nhất</a:t>
            </a:r>
            <a:endParaRPr lang="en-US" sz="3000" dirty="0"/>
          </a:p>
        </p:txBody>
      </p:sp>
      <p:sp>
        <p:nvSpPr>
          <p:cNvPr id="4" name="Text 2"/>
          <p:cNvSpPr/>
          <p:nvPr/>
        </p:nvSpPr>
        <p:spPr>
          <a:xfrm>
            <a:off x="548640" y="1554480"/>
            <a:ext cx="10972800" cy="457200"/>
          </a:xfrm>
          <a:prstGeom prst="rect">
            <a:avLst/>
          </a:prstGeom>
          <a:noFill/>
          <a:ln/>
        </p:spPr>
        <p:txBody>
          <a:bodyPr wrap="square"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Mỗi tên miền phụ một trụ cột; tất cả chia sẻ cùng ví + lớp định danh.</a:t>
            </a:r>
            <a:endParaRPr lang="en-US" sz="1400" dirty="0"/>
          </a:p>
        </p:txBody>
      </p:sp>
      <p:sp>
        <p:nvSpPr>
          <p:cNvPr id="5" name="Shape 3"/>
          <p:cNvSpPr/>
          <p:nvPr/>
        </p:nvSpPr>
        <p:spPr>
          <a:xfrm>
            <a:off x="548640" y="2194560"/>
            <a:ext cx="2697480" cy="960120"/>
          </a:xfrm>
          <a:prstGeom prst="rect">
            <a:avLst/>
          </a:prstGeom>
          <a:solidFill>
            <a:srgbClr val="1E2761"/>
          </a:solidFill>
          <a:ln w="6350">
            <a:solidFill>
              <a:srgbClr val="1E2761"/>
            </a:solidFill>
            <a:prstDash val="solid"/>
          </a:ln>
        </p:spPr>
      </p:sp>
      <p:sp>
        <p:nvSpPr>
          <p:cNvPr id="6" name="Text 4"/>
          <p:cNvSpPr/>
          <p:nvPr/>
        </p:nvSpPr>
        <p:spPr>
          <a:xfrm>
            <a:off x="640080" y="2286000"/>
            <a:ext cx="2514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vetuonglai.com</a:t>
            </a:r>
            <a:endParaRPr lang="en-US" sz="1200" dirty="0"/>
          </a:p>
        </p:txBody>
      </p:sp>
      <p:sp>
        <p:nvSpPr>
          <p:cNvPr id="7" name="Text 5"/>
          <p:cNvSpPr/>
          <p:nvPr/>
        </p:nvSpPr>
        <p:spPr>
          <a:xfrm>
            <a:off x="640080" y="2606040"/>
            <a:ext cx="2514600" cy="45720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Gốc · bản đồ hệ thống</a:t>
            </a:r>
            <a:endParaRPr lang="en-US" sz="900" dirty="0"/>
          </a:p>
        </p:txBody>
      </p:sp>
      <p:sp>
        <p:nvSpPr>
          <p:cNvPr id="8" name="Shape 6"/>
          <p:cNvSpPr/>
          <p:nvPr/>
        </p:nvSpPr>
        <p:spPr>
          <a:xfrm>
            <a:off x="3337560" y="2194560"/>
            <a:ext cx="2697480" cy="960120"/>
          </a:xfrm>
          <a:prstGeom prst="rect">
            <a:avLst/>
          </a:prstGeom>
          <a:solidFill>
            <a:srgbClr val="CADCFC"/>
          </a:solidFill>
          <a:ln w="6350">
            <a:solidFill>
              <a:srgbClr val="1E2761"/>
            </a:solidFill>
            <a:prstDash val="solid"/>
          </a:ln>
        </p:spPr>
      </p:sp>
      <p:sp>
        <p:nvSpPr>
          <p:cNvPr id="9" name="Text 7"/>
          <p:cNvSpPr/>
          <p:nvPr/>
        </p:nvSpPr>
        <p:spPr>
          <a:xfrm>
            <a:off x="3429000" y="228600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vc</a:t>
            </a:r>
            <a:endParaRPr lang="en-US" sz="1200" dirty="0"/>
          </a:p>
        </p:txBody>
      </p:sp>
      <p:sp>
        <p:nvSpPr>
          <p:cNvPr id="10" name="Text 8"/>
          <p:cNvSpPr/>
          <p:nvPr/>
        </p:nvSpPr>
        <p:spPr>
          <a:xfrm>
            <a:off x="3429000" y="260604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Tin cậy · Verifiable Credentials</a:t>
            </a:r>
            <a:endParaRPr lang="en-US" sz="900" dirty="0"/>
          </a:p>
        </p:txBody>
      </p:sp>
      <p:sp>
        <p:nvSpPr>
          <p:cNvPr id="11" name="Shape 9"/>
          <p:cNvSpPr/>
          <p:nvPr/>
        </p:nvSpPr>
        <p:spPr>
          <a:xfrm>
            <a:off x="6126480" y="2194560"/>
            <a:ext cx="2697480" cy="960120"/>
          </a:xfrm>
          <a:prstGeom prst="rect">
            <a:avLst/>
          </a:prstGeom>
          <a:solidFill>
            <a:srgbClr val="CADCFC"/>
          </a:solidFill>
          <a:ln w="6350">
            <a:solidFill>
              <a:srgbClr val="1E2761"/>
            </a:solidFill>
            <a:prstDash val="solid"/>
          </a:ln>
        </p:spPr>
      </p:sp>
      <p:sp>
        <p:nvSpPr>
          <p:cNvPr id="12" name="Text 10"/>
          <p:cNvSpPr/>
          <p:nvPr/>
        </p:nvSpPr>
        <p:spPr>
          <a:xfrm>
            <a:off x="6217920" y="228600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member</a:t>
            </a:r>
            <a:endParaRPr lang="en-US" sz="1200" dirty="0"/>
          </a:p>
        </p:txBody>
      </p:sp>
      <p:sp>
        <p:nvSpPr>
          <p:cNvPr id="13" name="Text 11"/>
          <p:cNvSpPr/>
          <p:nvPr/>
        </p:nvSpPr>
        <p:spPr>
          <a:xfrm>
            <a:off x="6217920" y="260604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Danh tính · Bảng điều khiển</a:t>
            </a:r>
            <a:endParaRPr lang="en-US" sz="900" dirty="0"/>
          </a:p>
        </p:txBody>
      </p:sp>
      <p:sp>
        <p:nvSpPr>
          <p:cNvPr id="14" name="Shape 12"/>
          <p:cNvSpPr/>
          <p:nvPr/>
        </p:nvSpPr>
        <p:spPr>
          <a:xfrm>
            <a:off x="8915400" y="2194560"/>
            <a:ext cx="2697480" cy="960120"/>
          </a:xfrm>
          <a:prstGeom prst="rect">
            <a:avLst/>
          </a:prstGeom>
          <a:solidFill>
            <a:srgbClr val="CADCFC"/>
          </a:solidFill>
          <a:ln w="6350">
            <a:solidFill>
              <a:srgbClr val="1E2761"/>
            </a:solidFill>
            <a:prstDash val="solid"/>
          </a:ln>
        </p:spPr>
      </p:sp>
      <p:sp>
        <p:nvSpPr>
          <p:cNvPr id="15" name="Text 13"/>
          <p:cNvSpPr/>
          <p:nvPr/>
        </p:nvSpPr>
        <p:spPr>
          <a:xfrm>
            <a:off x="9006840" y="228600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edu</a:t>
            </a:r>
            <a:endParaRPr lang="en-US" sz="1200" dirty="0"/>
          </a:p>
        </p:txBody>
      </p:sp>
      <p:sp>
        <p:nvSpPr>
          <p:cNvPr id="16" name="Text 14"/>
          <p:cNvSpPr/>
          <p:nvPr/>
        </p:nvSpPr>
        <p:spPr>
          <a:xfrm>
            <a:off x="9006840" y="260604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Học · Khoá học + AI tutor</a:t>
            </a:r>
            <a:endParaRPr lang="en-US" sz="900" dirty="0"/>
          </a:p>
        </p:txBody>
      </p:sp>
      <p:sp>
        <p:nvSpPr>
          <p:cNvPr id="17" name="Shape 15"/>
          <p:cNvSpPr/>
          <p:nvPr/>
        </p:nvSpPr>
        <p:spPr>
          <a:xfrm>
            <a:off x="548640" y="3246120"/>
            <a:ext cx="2697480" cy="960120"/>
          </a:xfrm>
          <a:prstGeom prst="rect">
            <a:avLst/>
          </a:prstGeom>
          <a:solidFill>
            <a:srgbClr val="CADCFC"/>
          </a:solidFill>
          <a:ln w="6350">
            <a:solidFill>
              <a:srgbClr val="1E2761"/>
            </a:solidFill>
            <a:prstDash val="solid"/>
          </a:ln>
        </p:spPr>
      </p:sp>
      <p:sp>
        <p:nvSpPr>
          <p:cNvPr id="18" name="Text 16"/>
          <p:cNvSpPr/>
          <p:nvPr/>
        </p:nvSpPr>
        <p:spPr>
          <a:xfrm>
            <a:off x="640080" y="333756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finance</a:t>
            </a:r>
            <a:endParaRPr lang="en-US" sz="1200" dirty="0"/>
          </a:p>
        </p:txBody>
      </p:sp>
      <p:sp>
        <p:nvSpPr>
          <p:cNvPr id="19" name="Text 17"/>
          <p:cNvSpPr/>
          <p:nvPr/>
        </p:nvSpPr>
        <p:spPr>
          <a:xfrm>
            <a:off x="640080" y="365760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Giá trị · Tài chính cá nhân</a:t>
            </a:r>
            <a:endParaRPr lang="en-US" sz="900" dirty="0"/>
          </a:p>
        </p:txBody>
      </p:sp>
      <p:sp>
        <p:nvSpPr>
          <p:cNvPr id="20" name="Shape 18"/>
          <p:cNvSpPr/>
          <p:nvPr/>
        </p:nvSpPr>
        <p:spPr>
          <a:xfrm>
            <a:off x="3337560" y="3246120"/>
            <a:ext cx="2697480" cy="960120"/>
          </a:xfrm>
          <a:prstGeom prst="rect">
            <a:avLst/>
          </a:prstGeom>
          <a:solidFill>
            <a:srgbClr val="CADCFC"/>
          </a:solidFill>
          <a:ln w="6350">
            <a:solidFill>
              <a:srgbClr val="1E2761"/>
            </a:solidFill>
            <a:prstDash val="solid"/>
          </a:ln>
        </p:spPr>
      </p:sp>
      <p:sp>
        <p:nvSpPr>
          <p:cNvPr id="21" name="Text 19"/>
          <p:cNvSpPr/>
          <p:nvPr/>
        </p:nvSpPr>
        <p:spPr>
          <a:xfrm>
            <a:off x="3429000" y="333756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invest</a:t>
            </a:r>
            <a:endParaRPr lang="en-US" sz="1200" dirty="0"/>
          </a:p>
        </p:txBody>
      </p:sp>
      <p:sp>
        <p:nvSpPr>
          <p:cNvPr id="22" name="Text 20"/>
          <p:cNvSpPr/>
          <p:nvPr/>
        </p:nvSpPr>
        <p:spPr>
          <a:xfrm>
            <a:off x="3429000" y="365760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Giá trị · Hướng dẫn đầu tư</a:t>
            </a:r>
            <a:endParaRPr lang="en-US" sz="900" dirty="0"/>
          </a:p>
        </p:txBody>
      </p:sp>
      <p:sp>
        <p:nvSpPr>
          <p:cNvPr id="23" name="Shape 21"/>
          <p:cNvSpPr/>
          <p:nvPr/>
        </p:nvSpPr>
        <p:spPr>
          <a:xfrm>
            <a:off x="6126480" y="3246120"/>
            <a:ext cx="2697480" cy="960120"/>
          </a:xfrm>
          <a:prstGeom prst="rect">
            <a:avLst/>
          </a:prstGeom>
          <a:solidFill>
            <a:srgbClr val="CADCFC"/>
          </a:solidFill>
          <a:ln w="6350">
            <a:solidFill>
              <a:srgbClr val="1E2761"/>
            </a:solidFill>
            <a:prstDash val="solid"/>
          </a:ln>
        </p:spPr>
      </p:sp>
      <p:sp>
        <p:nvSpPr>
          <p:cNvPr id="24" name="Text 22"/>
          <p:cNvSpPr/>
          <p:nvPr/>
        </p:nvSpPr>
        <p:spPr>
          <a:xfrm>
            <a:off x="6217920" y="333756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work</a:t>
            </a:r>
            <a:endParaRPr lang="en-US" sz="1200" dirty="0"/>
          </a:p>
        </p:txBody>
      </p:sp>
      <p:sp>
        <p:nvSpPr>
          <p:cNvPr id="25" name="Text 23"/>
          <p:cNvSpPr/>
          <p:nvPr/>
        </p:nvSpPr>
        <p:spPr>
          <a:xfrm>
            <a:off x="6217920" y="365760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Sứ mệnh · Việc làm + escrow</a:t>
            </a:r>
            <a:endParaRPr lang="en-US" sz="900" dirty="0"/>
          </a:p>
        </p:txBody>
      </p:sp>
      <p:sp>
        <p:nvSpPr>
          <p:cNvPr id="26" name="Shape 24"/>
          <p:cNvSpPr/>
          <p:nvPr/>
        </p:nvSpPr>
        <p:spPr>
          <a:xfrm>
            <a:off x="8915400" y="3246120"/>
            <a:ext cx="2697480" cy="960120"/>
          </a:xfrm>
          <a:prstGeom prst="rect">
            <a:avLst/>
          </a:prstGeom>
          <a:solidFill>
            <a:srgbClr val="CADCFC"/>
          </a:solidFill>
          <a:ln w="6350">
            <a:solidFill>
              <a:srgbClr val="1E2761"/>
            </a:solidFill>
            <a:prstDash val="solid"/>
          </a:ln>
        </p:spPr>
      </p:sp>
      <p:sp>
        <p:nvSpPr>
          <p:cNvPr id="27" name="Text 25"/>
          <p:cNvSpPr/>
          <p:nvPr/>
        </p:nvSpPr>
        <p:spPr>
          <a:xfrm>
            <a:off x="9006840" y="333756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business</a:t>
            </a:r>
            <a:endParaRPr lang="en-US" sz="1200" dirty="0"/>
          </a:p>
        </p:txBody>
      </p:sp>
      <p:sp>
        <p:nvSpPr>
          <p:cNvPr id="28" name="Text 26"/>
          <p:cNvSpPr/>
          <p:nvPr/>
        </p:nvSpPr>
        <p:spPr>
          <a:xfrm>
            <a:off x="9006840" y="365760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Sứ mệnh · B2B credentials</a:t>
            </a:r>
            <a:endParaRPr lang="en-US" sz="900" dirty="0"/>
          </a:p>
        </p:txBody>
      </p:sp>
      <p:sp>
        <p:nvSpPr>
          <p:cNvPr id="29" name="Shape 27"/>
          <p:cNvSpPr/>
          <p:nvPr/>
        </p:nvSpPr>
        <p:spPr>
          <a:xfrm>
            <a:off x="548640" y="4297680"/>
            <a:ext cx="2697480" cy="960120"/>
          </a:xfrm>
          <a:prstGeom prst="rect">
            <a:avLst/>
          </a:prstGeom>
          <a:solidFill>
            <a:srgbClr val="CADCFC"/>
          </a:solidFill>
          <a:ln w="6350">
            <a:solidFill>
              <a:srgbClr val="1E2761"/>
            </a:solidFill>
            <a:prstDash val="solid"/>
          </a:ln>
        </p:spPr>
      </p:sp>
      <p:sp>
        <p:nvSpPr>
          <p:cNvPr id="30" name="Text 28"/>
          <p:cNvSpPr/>
          <p:nvPr/>
        </p:nvSpPr>
        <p:spPr>
          <a:xfrm>
            <a:off x="640080" y="438912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green</a:t>
            </a:r>
            <a:endParaRPr lang="en-US" sz="1200" dirty="0"/>
          </a:p>
        </p:txBody>
      </p:sp>
      <p:sp>
        <p:nvSpPr>
          <p:cNvPr id="31" name="Text 29"/>
          <p:cNvSpPr/>
          <p:nvPr/>
        </p:nvSpPr>
        <p:spPr>
          <a:xfrm>
            <a:off x="640080" y="470916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Trái đất · Bằng chứng bền vững</a:t>
            </a:r>
            <a:endParaRPr lang="en-US" sz="900" dirty="0"/>
          </a:p>
        </p:txBody>
      </p:sp>
      <p:sp>
        <p:nvSpPr>
          <p:cNvPr id="32" name="Shape 30"/>
          <p:cNvSpPr/>
          <p:nvPr/>
        </p:nvSpPr>
        <p:spPr>
          <a:xfrm>
            <a:off x="3337560" y="4297680"/>
            <a:ext cx="2697480" cy="960120"/>
          </a:xfrm>
          <a:prstGeom prst="rect">
            <a:avLst/>
          </a:prstGeom>
          <a:solidFill>
            <a:srgbClr val="CADCFC"/>
          </a:solidFill>
          <a:ln w="6350">
            <a:solidFill>
              <a:srgbClr val="1E2761"/>
            </a:solidFill>
            <a:prstDash val="solid"/>
          </a:ln>
        </p:spPr>
      </p:sp>
      <p:sp>
        <p:nvSpPr>
          <p:cNvPr id="33" name="Text 31"/>
          <p:cNvSpPr/>
          <p:nvPr/>
        </p:nvSpPr>
        <p:spPr>
          <a:xfrm>
            <a:off x="3429000" y="438912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life</a:t>
            </a:r>
            <a:endParaRPr lang="en-US" sz="1200" dirty="0"/>
          </a:p>
        </p:txBody>
      </p:sp>
      <p:sp>
        <p:nvSpPr>
          <p:cNvPr id="34" name="Text 32"/>
          <p:cNvSpPr/>
          <p:nvPr/>
        </p:nvSpPr>
        <p:spPr>
          <a:xfrm>
            <a:off x="3429000" y="470916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Đời sống · Thói quen + sức khoẻ</a:t>
            </a:r>
            <a:endParaRPr lang="en-US" sz="900" dirty="0"/>
          </a:p>
        </p:txBody>
      </p:sp>
      <p:sp>
        <p:nvSpPr>
          <p:cNvPr id="35" name="Shape 33"/>
          <p:cNvSpPr/>
          <p:nvPr/>
        </p:nvSpPr>
        <p:spPr>
          <a:xfrm>
            <a:off x="6126480" y="4297680"/>
            <a:ext cx="2697480" cy="960120"/>
          </a:xfrm>
          <a:prstGeom prst="rect">
            <a:avLst/>
          </a:prstGeom>
          <a:solidFill>
            <a:srgbClr val="CADCFC"/>
          </a:solidFill>
          <a:ln w="6350">
            <a:solidFill>
              <a:srgbClr val="1E2761"/>
            </a:solidFill>
            <a:prstDash val="solid"/>
          </a:ln>
        </p:spPr>
      </p:sp>
      <p:sp>
        <p:nvSpPr>
          <p:cNvPr id="36" name="Text 34"/>
          <p:cNvSpPr/>
          <p:nvPr/>
        </p:nvSpPr>
        <p:spPr>
          <a:xfrm>
            <a:off x="6217920" y="438912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market</a:t>
            </a:r>
            <a:endParaRPr lang="en-US" sz="1200" dirty="0"/>
          </a:p>
        </p:txBody>
      </p:sp>
      <p:sp>
        <p:nvSpPr>
          <p:cNvPr id="37" name="Text 35"/>
          <p:cNvSpPr/>
          <p:nvPr/>
        </p:nvSpPr>
        <p:spPr>
          <a:xfrm>
            <a:off x="6217920" y="470916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Giá trị · Marketplace creator</a:t>
            </a:r>
            <a:endParaRPr lang="en-US" sz="900" dirty="0"/>
          </a:p>
        </p:txBody>
      </p:sp>
      <p:sp>
        <p:nvSpPr>
          <p:cNvPr id="38" name="Shape 36"/>
          <p:cNvSpPr/>
          <p:nvPr/>
        </p:nvSpPr>
        <p:spPr>
          <a:xfrm>
            <a:off x="8915400" y="4297680"/>
            <a:ext cx="2697480" cy="960120"/>
          </a:xfrm>
          <a:prstGeom prst="rect">
            <a:avLst/>
          </a:prstGeom>
          <a:solidFill>
            <a:srgbClr val="CADCFC"/>
          </a:solidFill>
          <a:ln w="6350">
            <a:solidFill>
              <a:srgbClr val="1E2761"/>
            </a:solidFill>
            <a:prstDash val="solid"/>
          </a:ln>
        </p:spPr>
      </p:sp>
      <p:sp>
        <p:nvSpPr>
          <p:cNvPr id="39" name="Text 37"/>
          <p:cNvSpPr/>
          <p:nvPr/>
        </p:nvSpPr>
        <p:spPr>
          <a:xfrm>
            <a:off x="9006840" y="438912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community</a:t>
            </a:r>
            <a:endParaRPr lang="en-US" sz="1200" dirty="0"/>
          </a:p>
        </p:txBody>
      </p:sp>
      <p:sp>
        <p:nvSpPr>
          <p:cNvPr id="40" name="Text 38"/>
          <p:cNvSpPr/>
          <p:nvPr/>
        </p:nvSpPr>
        <p:spPr>
          <a:xfrm>
            <a:off x="9006840" y="470916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Câu chuyện · Vòng tròn + mod</a:t>
            </a:r>
            <a:endParaRPr lang="en-US" sz="900" dirty="0"/>
          </a:p>
        </p:txBody>
      </p:sp>
      <p:sp>
        <p:nvSpPr>
          <p:cNvPr id="41" name="Shape 39"/>
          <p:cNvSpPr/>
          <p:nvPr/>
        </p:nvSpPr>
        <p:spPr>
          <a:xfrm>
            <a:off x="548640" y="5349240"/>
            <a:ext cx="2697480" cy="960120"/>
          </a:xfrm>
          <a:prstGeom prst="rect">
            <a:avLst/>
          </a:prstGeom>
          <a:solidFill>
            <a:srgbClr val="CADCFC"/>
          </a:solidFill>
          <a:ln w="6350">
            <a:solidFill>
              <a:srgbClr val="1E2761"/>
            </a:solidFill>
            <a:prstDash val="solid"/>
          </a:ln>
        </p:spPr>
      </p:sp>
      <p:sp>
        <p:nvSpPr>
          <p:cNvPr id="42" name="Text 40"/>
          <p:cNvSpPr/>
          <p:nvPr/>
        </p:nvSpPr>
        <p:spPr>
          <a:xfrm>
            <a:off x="640080" y="544068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ai</a:t>
            </a:r>
            <a:endParaRPr lang="en-US" sz="1200" dirty="0"/>
          </a:p>
        </p:txBody>
      </p:sp>
      <p:sp>
        <p:nvSpPr>
          <p:cNvPr id="43" name="Text 41"/>
          <p:cNvSpPr/>
          <p:nvPr/>
        </p:nvSpPr>
        <p:spPr>
          <a:xfrm>
            <a:off x="640080" y="576072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AI · Trợ giúp năng suất</a:t>
            </a:r>
            <a:endParaRPr lang="en-US" sz="900" dirty="0"/>
          </a:p>
        </p:txBody>
      </p:sp>
      <p:sp>
        <p:nvSpPr>
          <p:cNvPr id="44" name="Shape 42"/>
          <p:cNvSpPr/>
          <p:nvPr/>
        </p:nvSpPr>
        <p:spPr>
          <a:xfrm>
            <a:off x="3337560" y="5349240"/>
            <a:ext cx="2697480" cy="960120"/>
          </a:xfrm>
          <a:prstGeom prst="rect">
            <a:avLst/>
          </a:prstGeom>
          <a:solidFill>
            <a:srgbClr val="CADCFC"/>
          </a:solidFill>
          <a:ln w="6350">
            <a:solidFill>
              <a:srgbClr val="1E2761"/>
            </a:solidFill>
            <a:prstDash val="solid"/>
          </a:ln>
        </p:spPr>
      </p:sp>
      <p:sp>
        <p:nvSpPr>
          <p:cNvPr id="45" name="Text 43"/>
          <p:cNvSpPr/>
          <p:nvPr/>
        </p:nvSpPr>
        <p:spPr>
          <a:xfrm>
            <a:off x="3429000" y="544068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read</a:t>
            </a:r>
            <a:endParaRPr lang="en-US" sz="1200" dirty="0"/>
          </a:p>
        </p:txBody>
      </p:sp>
      <p:sp>
        <p:nvSpPr>
          <p:cNvPr id="46" name="Text 44"/>
          <p:cNvSpPr/>
          <p:nvPr/>
        </p:nvSpPr>
        <p:spPr>
          <a:xfrm>
            <a:off x="3429000" y="576072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Học · Bài dài + tiến độ</a:t>
            </a:r>
            <a:endParaRPr lang="en-US" sz="900" dirty="0"/>
          </a:p>
        </p:txBody>
      </p:sp>
      <p:sp>
        <p:nvSpPr>
          <p:cNvPr id="47" name="Shape 45"/>
          <p:cNvSpPr/>
          <p:nvPr/>
        </p:nvSpPr>
        <p:spPr>
          <a:xfrm>
            <a:off x="6126480" y="5349240"/>
            <a:ext cx="2697480" cy="960120"/>
          </a:xfrm>
          <a:prstGeom prst="rect">
            <a:avLst/>
          </a:prstGeom>
          <a:solidFill>
            <a:srgbClr val="CADCFC"/>
          </a:solidFill>
          <a:ln w="6350">
            <a:solidFill>
              <a:srgbClr val="1E2761"/>
            </a:solidFill>
            <a:prstDash val="solid"/>
          </a:ln>
        </p:spPr>
      </p:sp>
      <p:sp>
        <p:nvSpPr>
          <p:cNvPr id="48" name="Text 46"/>
          <p:cNvSpPr/>
          <p:nvPr/>
        </p:nvSpPr>
        <p:spPr>
          <a:xfrm>
            <a:off x="6217920" y="5440680"/>
            <a:ext cx="25146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docs</a:t>
            </a:r>
            <a:endParaRPr lang="en-US" sz="1200" dirty="0"/>
          </a:p>
        </p:txBody>
      </p:sp>
      <p:sp>
        <p:nvSpPr>
          <p:cNvPr id="49" name="Text 47"/>
          <p:cNvSpPr/>
          <p:nvPr/>
        </p:nvSpPr>
        <p:spPr>
          <a:xfrm>
            <a:off x="6217920" y="5760720"/>
            <a:ext cx="2514600" cy="457200"/>
          </a:xfrm>
          <a:prstGeom prst="rect">
            <a:avLst/>
          </a:prstGeom>
          <a:noFill/>
          <a:ln/>
        </p:spPr>
        <p:txBody>
          <a:bodyPr wrap="square" rtlCol="0" anchor="t"/>
          <a:lstStyle/>
          <a:p>
            <a:pPr indent="0" marL="0">
              <a:buNone/>
            </a:pPr>
            <a:r>
              <a:rPr lang="en-US" sz="900" dirty="0">
                <a:solidFill>
                  <a:srgbClr val="1F2937"/>
                </a:solidFill>
                <a:latin typeface="Calibri" pitchFamily="34" charset="0"/>
                <a:ea typeface="Calibri" pitchFamily="34" charset="-122"/>
                <a:cs typeface="Calibri" pitchFamily="34" charset="-120"/>
              </a:rPr>
              <a:t>Tin cậy · Tài liệu</a:t>
            </a:r>
            <a:endParaRPr lang="en-US" sz="900" dirty="0"/>
          </a:p>
        </p:txBody>
      </p:sp>
      <p:sp>
        <p:nvSpPr>
          <p:cNvPr id="50" name="Shape 48"/>
          <p:cNvSpPr/>
          <p:nvPr/>
        </p:nvSpPr>
        <p:spPr>
          <a:xfrm>
            <a:off x="8915400" y="5349240"/>
            <a:ext cx="2697480" cy="960120"/>
          </a:xfrm>
          <a:prstGeom prst="rect">
            <a:avLst/>
          </a:prstGeom>
          <a:solidFill>
            <a:srgbClr val="1E2761"/>
          </a:solidFill>
          <a:ln w="6350">
            <a:solidFill>
              <a:srgbClr val="1E2761"/>
            </a:solidFill>
            <a:prstDash val="solid"/>
          </a:ln>
        </p:spPr>
      </p:sp>
      <p:sp>
        <p:nvSpPr>
          <p:cNvPr id="51" name="Text 49"/>
          <p:cNvSpPr/>
          <p:nvPr/>
        </p:nvSpPr>
        <p:spPr>
          <a:xfrm>
            <a:off x="9006840" y="5440680"/>
            <a:ext cx="2514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kids</a:t>
            </a:r>
            <a:endParaRPr lang="en-US" sz="1200" dirty="0"/>
          </a:p>
        </p:txBody>
      </p:sp>
      <p:sp>
        <p:nvSpPr>
          <p:cNvPr id="52" name="Text 50"/>
          <p:cNvSpPr/>
          <p:nvPr/>
        </p:nvSpPr>
        <p:spPr>
          <a:xfrm>
            <a:off x="9006840" y="5760720"/>
            <a:ext cx="2514600" cy="45720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Đời sống (cô lập) · Vùng an toàn trẻ</a:t>
            </a:r>
            <a:endParaRPr lang="en-US" sz="900" dirty="0"/>
          </a:p>
        </p:txBody>
      </p:sp>
      <p:sp>
        <p:nvSpPr>
          <p:cNvPr id="53" name="Text 51"/>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54" name="Text 52"/>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400" b="1" dirty="0">
                <a:solidFill>
                  <a:srgbClr val="FACC15"/>
                </a:solidFill>
                <a:latin typeface="Calibri" pitchFamily="34" charset="0"/>
                <a:ea typeface="Calibri" pitchFamily="34" charset="-122"/>
                <a:cs typeface="Calibri" pitchFamily="34" charset="-120"/>
              </a:rPr>
              <a:t>04 · TRACTION</a:t>
            </a:r>
            <a:endParaRPr lang="en-US" sz="1400" dirty="0"/>
          </a:p>
        </p:txBody>
      </p:sp>
      <p:sp>
        <p:nvSpPr>
          <p:cNvPr id="3" name="Text 1"/>
          <p:cNvSpPr/>
          <p:nvPr/>
        </p:nvSpPr>
        <p:spPr>
          <a:xfrm>
            <a:off x="548640" y="868680"/>
            <a:ext cx="10972800" cy="73152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Production-grade hôm nay</a:t>
            </a:r>
            <a:endParaRPr lang="en-US" sz="3800" dirty="0"/>
          </a:p>
        </p:txBody>
      </p:sp>
      <p:sp>
        <p:nvSpPr>
          <p:cNvPr id="4" name="Shape 2"/>
          <p:cNvSpPr/>
          <p:nvPr/>
        </p:nvSpPr>
        <p:spPr>
          <a:xfrm>
            <a:off x="548640" y="2011680"/>
            <a:ext cx="3657600" cy="1920240"/>
          </a:xfrm>
          <a:prstGeom prst="rect">
            <a:avLst/>
          </a:prstGeom>
          <a:solidFill>
            <a:srgbClr val="0F172A"/>
          </a:solidFill>
          <a:ln w="12700">
            <a:solidFill>
              <a:srgbClr val="FACC15"/>
            </a:solidFill>
            <a:prstDash val="solid"/>
          </a:ln>
        </p:spPr>
      </p:sp>
      <p:sp>
        <p:nvSpPr>
          <p:cNvPr id="5" name="Text 3"/>
          <p:cNvSpPr/>
          <p:nvPr/>
        </p:nvSpPr>
        <p:spPr>
          <a:xfrm>
            <a:off x="685800" y="2148840"/>
            <a:ext cx="3383280" cy="822960"/>
          </a:xfrm>
          <a:prstGeom prst="rect">
            <a:avLst/>
          </a:prstGeom>
          <a:noFill/>
          <a:ln/>
        </p:spPr>
        <p:txBody>
          <a:bodyPr wrap="square" rtlCol="0" anchor="ctr"/>
          <a:lstStyle/>
          <a:p>
            <a:pPr indent="0" marL="0">
              <a:buNone/>
            </a:pPr>
            <a:r>
              <a:rPr lang="en-US" sz="4200" b="1" dirty="0">
                <a:solidFill>
                  <a:srgbClr val="FACC15"/>
                </a:solidFill>
                <a:latin typeface="Calibri" pitchFamily="34" charset="0"/>
                <a:ea typeface="Calibri" pitchFamily="34" charset="-122"/>
                <a:cs typeface="Calibri" pitchFamily="34" charset="-120"/>
              </a:rPr>
              <a:t>7 / 7</a:t>
            </a:r>
            <a:endParaRPr lang="en-US" sz="4200" dirty="0"/>
          </a:p>
        </p:txBody>
      </p:sp>
      <p:sp>
        <p:nvSpPr>
          <p:cNvPr id="6" name="Text 4"/>
          <p:cNvSpPr/>
          <p:nvPr/>
        </p:nvSpPr>
        <p:spPr>
          <a:xfrm>
            <a:off x="685800" y="3017520"/>
            <a:ext cx="3383280" cy="8686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Workers live trên Cloudflare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phiên bản 8d6d938f → aeaffe27</a:t>
            </a:r>
            <a:endParaRPr lang="en-US" sz="1200" dirty="0"/>
          </a:p>
        </p:txBody>
      </p:sp>
      <p:sp>
        <p:nvSpPr>
          <p:cNvPr id="7" name="Shape 5"/>
          <p:cNvSpPr/>
          <p:nvPr/>
        </p:nvSpPr>
        <p:spPr>
          <a:xfrm>
            <a:off x="4389120" y="2011680"/>
            <a:ext cx="3657600" cy="1920240"/>
          </a:xfrm>
          <a:prstGeom prst="rect">
            <a:avLst/>
          </a:prstGeom>
          <a:solidFill>
            <a:srgbClr val="0F172A"/>
          </a:solidFill>
          <a:ln w="12700">
            <a:solidFill>
              <a:srgbClr val="FACC15"/>
            </a:solidFill>
            <a:prstDash val="solid"/>
          </a:ln>
        </p:spPr>
      </p:sp>
      <p:sp>
        <p:nvSpPr>
          <p:cNvPr id="8" name="Text 6"/>
          <p:cNvSpPr/>
          <p:nvPr/>
        </p:nvSpPr>
        <p:spPr>
          <a:xfrm>
            <a:off x="4526280" y="2148840"/>
            <a:ext cx="3383280" cy="822960"/>
          </a:xfrm>
          <a:prstGeom prst="rect">
            <a:avLst/>
          </a:prstGeom>
          <a:noFill/>
          <a:ln/>
        </p:spPr>
        <p:txBody>
          <a:bodyPr wrap="square" rtlCol="0" anchor="ctr"/>
          <a:lstStyle/>
          <a:p>
            <a:pPr indent="0" marL="0">
              <a:buNone/>
            </a:pPr>
            <a:r>
              <a:rPr lang="en-US" sz="4200" b="1" dirty="0">
                <a:solidFill>
                  <a:srgbClr val="FACC15"/>
                </a:solidFill>
                <a:latin typeface="Calibri" pitchFamily="34" charset="0"/>
                <a:ea typeface="Calibri" pitchFamily="34" charset="-122"/>
                <a:cs typeface="Calibri" pitchFamily="34" charset="-120"/>
              </a:rPr>
              <a:t>26</a:t>
            </a:r>
            <a:endParaRPr lang="en-US" sz="4200" dirty="0"/>
          </a:p>
        </p:txBody>
      </p:sp>
      <p:sp>
        <p:nvSpPr>
          <p:cNvPr id="9" name="Text 7"/>
          <p:cNvSpPr/>
          <p:nvPr/>
        </p:nvSpPr>
        <p:spPr>
          <a:xfrm>
            <a:off x="4526280" y="3017520"/>
            <a:ext cx="3383280" cy="8686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Templates email giao dịch</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auth · payment · wallet · KYC · social · generic</a:t>
            </a:r>
            <a:endParaRPr lang="en-US" sz="1200" dirty="0"/>
          </a:p>
        </p:txBody>
      </p:sp>
      <p:sp>
        <p:nvSpPr>
          <p:cNvPr id="10" name="Shape 8"/>
          <p:cNvSpPr/>
          <p:nvPr/>
        </p:nvSpPr>
        <p:spPr>
          <a:xfrm>
            <a:off x="8229600" y="2011680"/>
            <a:ext cx="3657600" cy="1920240"/>
          </a:xfrm>
          <a:prstGeom prst="rect">
            <a:avLst/>
          </a:prstGeom>
          <a:solidFill>
            <a:srgbClr val="0F172A"/>
          </a:solidFill>
          <a:ln w="12700">
            <a:solidFill>
              <a:srgbClr val="FACC15"/>
            </a:solidFill>
            <a:prstDash val="solid"/>
          </a:ln>
        </p:spPr>
      </p:sp>
      <p:sp>
        <p:nvSpPr>
          <p:cNvPr id="11" name="Text 9"/>
          <p:cNvSpPr/>
          <p:nvPr/>
        </p:nvSpPr>
        <p:spPr>
          <a:xfrm>
            <a:off x="8366760" y="2148840"/>
            <a:ext cx="3383280" cy="822960"/>
          </a:xfrm>
          <a:prstGeom prst="rect">
            <a:avLst/>
          </a:prstGeom>
          <a:noFill/>
          <a:ln/>
        </p:spPr>
        <p:txBody>
          <a:bodyPr wrap="square" rtlCol="0" anchor="ctr"/>
          <a:lstStyle/>
          <a:p>
            <a:pPr indent="0" marL="0">
              <a:buNone/>
            </a:pPr>
            <a:r>
              <a:rPr lang="en-US" sz="4200" b="1" dirty="0">
                <a:solidFill>
                  <a:srgbClr val="FACC15"/>
                </a:solidFill>
                <a:latin typeface="Calibri" pitchFamily="34" charset="0"/>
                <a:ea typeface="Calibri" pitchFamily="34" charset="-122"/>
                <a:cs typeface="Calibri" pitchFamily="34" charset="-120"/>
              </a:rPr>
              <a:t>16</a:t>
            </a:r>
            <a:endParaRPr lang="en-US" sz="4200" dirty="0"/>
          </a:p>
        </p:txBody>
      </p:sp>
      <p:sp>
        <p:nvSpPr>
          <p:cNvPr id="12" name="Text 10"/>
          <p:cNvSpPr/>
          <p:nvPr/>
        </p:nvSpPr>
        <p:spPr>
          <a:xfrm>
            <a:off x="8366760" y="3017520"/>
            <a:ext cx="3383280" cy="8686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Tên miền triển khai</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song ngữ VI + EN ngày đầu</a:t>
            </a:r>
            <a:endParaRPr lang="en-US" sz="1200" dirty="0"/>
          </a:p>
        </p:txBody>
      </p:sp>
      <p:sp>
        <p:nvSpPr>
          <p:cNvPr id="13" name="Shape 11"/>
          <p:cNvSpPr/>
          <p:nvPr/>
        </p:nvSpPr>
        <p:spPr>
          <a:xfrm>
            <a:off x="548640" y="4114800"/>
            <a:ext cx="3657600" cy="1920240"/>
          </a:xfrm>
          <a:prstGeom prst="rect">
            <a:avLst/>
          </a:prstGeom>
          <a:solidFill>
            <a:srgbClr val="0F172A"/>
          </a:solidFill>
          <a:ln w="12700">
            <a:solidFill>
              <a:srgbClr val="FACC15"/>
            </a:solidFill>
            <a:prstDash val="solid"/>
          </a:ln>
        </p:spPr>
      </p:sp>
      <p:sp>
        <p:nvSpPr>
          <p:cNvPr id="14" name="Text 12"/>
          <p:cNvSpPr/>
          <p:nvPr/>
        </p:nvSpPr>
        <p:spPr>
          <a:xfrm>
            <a:off x="685800" y="4251960"/>
            <a:ext cx="3383280" cy="822960"/>
          </a:xfrm>
          <a:prstGeom prst="rect">
            <a:avLst/>
          </a:prstGeom>
          <a:noFill/>
          <a:ln/>
        </p:spPr>
        <p:txBody>
          <a:bodyPr wrap="square" rtlCol="0" anchor="ctr"/>
          <a:lstStyle/>
          <a:p>
            <a:pPr indent="0" marL="0">
              <a:buNone/>
            </a:pPr>
            <a:r>
              <a:rPr lang="en-US" sz="4200" b="1" dirty="0">
                <a:solidFill>
                  <a:srgbClr val="FACC15"/>
                </a:solidFill>
                <a:latin typeface="Calibri" pitchFamily="34" charset="0"/>
                <a:ea typeface="Calibri" pitchFamily="34" charset="-122"/>
                <a:cs typeface="Calibri" pitchFamily="34" charset="-120"/>
              </a:rPr>
              <a:t>11</a:t>
            </a:r>
            <a:endParaRPr lang="en-US" sz="4200" dirty="0"/>
          </a:p>
        </p:txBody>
      </p:sp>
      <p:sp>
        <p:nvSpPr>
          <p:cNvPr id="15" name="Text 13"/>
          <p:cNvSpPr/>
          <p:nvPr/>
        </p:nvSpPr>
        <p:spPr>
          <a:xfrm>
            <a:off x="685800" y="5120640"/>
            <a:ext cx="3383280" cy="8686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Wallet API endpoints</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sổ cái KV · 100% smoke-test pass</a:t>
            </a:r>
            <a:endParaRPr lang="en-US" sz="1200" dirty="0"/>
          </a:p>
        </p:txBody>
      </p:sp>
      <p:sp>
        <p:nvSpPr>
          <p:cNvPr id="16" name="Shape 14"/>
          <p:cNvSpPr/>
          <p:nvPr/>
        </p:nvSpPr>
        <p:spPr>
          <a:xfrm>
            <a:off x="4389120" y="4114800"/>
            <a:ext cx="3657600" cy="1920240"/>
          </a:xfrm>
          <a:prstGeom prst="rect">
            <a:avLst/>
          </a:prstGeom>
          <a:solidFill>
            <a:srgbClr val="0F172A"/>
          </a:solidFill>
          <a:ln w="12700">
            <a:solidFill>
              <a:srgbClr val="FACC15"/>
            </a:solidFill>
            <a:prstDash val="solid"/>
          </a:ln>
        </p:spPr>
      </p:sp>
      <p:sp>
        <p:nvSpPr>
          <p:cNvPr id="17" name="Text 15"/>
          <p:cNvSpPr/>
          <p:nvPr/>
        </p:nvSpPr>
        <p:spPr>
          <a:xfrm>
            <a:off x="4526280" y="4251960"/>
            <a:ext cx="3383280" cy="822960"/>
          </a:xfrm>
          <a:prstGeom prst="rect">
            <a:avLst/>
          </a:prstGeom>
          <a:noFill/>
          <a:ln/>
        </p:spPr>
        <p:txBody>
          <a:bodyPr wrap="square" rtlCol="0" anchor="ctr"/>
          <a:lstStyle/>
          <a:p>
            <a:pPr indent="0" marL="0">
              <a:buNone/>
            </a:pPr>
            <a:r>
              <a:rPr lang="en-US" sz="4200" b="1" dirty="0">
                <a:solidFill>
                  <a:srgbClr val="FACC15"/>
                </a:solidFill>
                <a:latin typeface="Calibri" pitchFamily="34" charset="0"/>
                <a:ea typeface="Calibri" pitchFamily="34" charset="-122"/>
                <a:cs typeface="Calibri" pitchFamily="34" charset="-120"/>
              </a:rPr>
              <a:t>96%</a:t>
            </a:r>
            <a:endParaRPr lang="en-US" sz="4200" dirty="0"/>
          </a:p>
        </p:txBody>
      </p:sp>
      <p:sp>
        <p:nvSpPr>
          <p:cNvPr id="18" name="Text 16"/>
          <p:cNvSpPr/>
          <p:nvPr/>
        </p:nvSpPr>
        <p:spPr>
          <a:xfrm>
            <a:off x="4526280" y="5120640"/>
            <a:ext cx="3383280" cy="8686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Code hoàn thành</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chỉ secrets từ Founder còn lại</a:t>
            </a:r>
            <a:endParaRPr lang="en-US" sz="1200" dirty="0"/>
          </a:p>
        </p:txBody>
      </p:sp>
      <p:sp>
        <p:nvSpPr>
          <p:cNvPr id="19" name="Shape 17"/>
          <p:cNvSpPr/>
          <p:nvPr/>
        </p:nvSpPr>
        <p:spPr>
          <a:xfrm>
            <a:off x="8229600" y="4114800"/>
            <a:ext cx="3657600" cy="1920240"/>
          </a:xfrm>
          <a:prstGeom prst="rect">
            <a:avLst/>
          </a:prstGeom>
          <a:solidFill>
            <a:srgbClr val="0F172A"/>
          </a:solidFill>
          <a:ln w="12700">
            <a:solidFill>
              <a:srgbClr val="FACC15"/>
            </a:solidFill>
            <a:prstDash val="solid"/>
          </a:ln>
        </p:spPr>
      </p:sp>
      <p:sp>
        <p:nvSpPr>
          <p:cNvPr id="20" name="Text 18"/>
          <p:cNvSpPr/>
          <p:nvPr/>
        </p:nvSpPr>
        <p:spPr>
          <a:xfrm>
            <a:off x="8366760" y="4251960"/>
            <a:ext cx="3383280" cy="822960"/>
          </a:xfrm>
          <a:prstGeom prst="rect">
            <a:avLst/>
          </a:prstGeom>
          <a:noFill/>
          <a:ln/>
        </p:spPr>
        <p:txBody>
          <a:bodyPr wrap="square" rtlCol="0" anchor="ctr"/>
          <a:lstStyle/>
          <a:p>
            <a:pPr indent="0" marL="0">
              <a:buNone/>
            </a:pPr>
            <a:r>
              <a:rPr lang="en-US" sz="4200" b="1" dirty="0">
                <a:solidFill>
                  <a:srgbClr val="FACC15"/>
                </a:solidFill>
                <a:latin typeface="Calibri" pitchFamily="34" charset="0"/>
                <a:ea typeface="Calibri" pitchFamily="34" charset="-122"/>
                <a:cs typeface="Calibri" pitchFamily="34" charset="-120"/>
              </a:rPr>
              <a:t>&lt;4%</a:t>
            </a:r>
            <a:endParaRPr lang="en-US" sz="4200" dirty="0"/>
          </a:p>
        </p:txBody>
      </p:sp>
      <p:sp>
        <p:nvSpPr>
          <p:cNvPr id="21" name="Text 19"/>
          <p:cNvSpPr/>
          <p:nvPr/>
        </p:nvSpPr>
        <p:spPr>
          <a:xfrm>
            <a:off x="8366760" y="5120640"/>
            <a:ext cx="3383280" cy="8686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Chi phí hạ tầng / doanh thu</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(baseline ngành: 15-25%)</a:t>
            </a:r>
            <a:endParaRPr lang="en-US" sz="1200" dirty="0"/>
          </a:p>
        </p:txBody>
      </p:sp>
      <p:sp>
        <p:nvSpPr>
          <p:cNvPr id="22" name="Text 20"/>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CADCFC"/>
                </a:solidFill>
                <a:latin typeface="Calibri" pitchFamily="34" charset="0"/>
                <a:ea typeface="Calibri" pitchFamily="34" charset="-122"/>
                <a:cs typeface="Calibri" pitchFamily="34" charset="-120"/>
              </a:rPr>
              <a:t>VETUONGLAI ECOSYSTEM</a:t>
            </a:r>
            <a:endParaRPr lang="en-US" sz="900" dirty="0"/>
          </a:p>
        </p:txBody>
      </p:sp>
      <p:sp>
        <p:nvSpPr>
          <p:cNvPr id="23" name="Text 21"/>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MẬT · 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05 · THỊ TRƯỜNG</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Ba thị trường đồng tâm, tất cả tiếp cận được</a:t>
            </a:r>
            <a:endParaRPr lang="en-US" sz="3000" dirty="0"/>
          </a:p>
        </p:txBody>
      </p:sp>
      <p:sp>
        <p:nvSpPr>
          <p:cNvPr id="4" name="Text 2"/>
          <p:cNvSpPr/>
          <p:nvPr/>
        </p:nvSpPr>
        <p:spPr>
          <a:xfrm>
            <a:off x="548640" y="1645920"/>
            <a:ext cx="365760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TAM</a:t>
            </a:r>
            <a:endParaRPr lang="en-US" sz="1400" dirty="0"/>
          </a:p>
        </p:txBody>
      </p:sp>
      <p:sp>
        <p:nvSpPr>
          <p:cNvPr id="5" name="Text 3"/>
          <p:cNvSpPr/>
          <p:nvPr/>
        </p:nvSpPr>
        <p:spPr>
          <a:xfrm>
            <a:off x="548640" y="2011680"/>
            <a:ext cx="3657600" cy="731520"/>
          </a:xfrm>
          <a:prstGeom prst="rect">
            <a:avLst/>
          </a:prstGeom>
          <a:noFill/>
          <a:ln/>
        </p:spPr>
        <p:txBody>
          <a:bodyPr wrap="square" rtlCol="0" anchor="ctr"/>
          <a:lstStyle/>
          <a:p>
            <a:pPr indent="0" marL="0">
              <a:buNone/>
            </a:pPr>
            <a:r>
              <a:rPr lang="en-US" sz="3800" b="1" dirty="0">
                <a:solidFill>
                  <a:srgbClr val="1E2761"/>
                </a:solidFill>
                <a:latin typeface="Calibri" pitchFamily="34" charset="0"/>
                <a:ea typeface="Calibri" pitchFamily="34" charset="-122"/>
                <a:cs typeface="Calibri" pitchFamily="34" charset="-120"/>
              </a:rPr>
              <a:t>105 triệu</a:t>
            </a:r>
            <a:endParaRPr lang="en-US" sz="3800" dirty="0"/>
          </a:p>
        </p:txBody>
      </p:sp>
      <p:sp>
        <p:nvSpPr>
          <p:cNvPr id="6" name="Text 4"/>
          <p:cNvSpPr/>
          <p:nvPr/>
        </p:nvSpPr>
        <p:spPr>
          <a:xfrm>
            <a:off x="548640" y="2743200"/>
            <a:ext cx="3657600" cy="1371600"/>
          </a:xfrm>
          <a:prstGeom prst="rect">
            <a:avLst/>
          </a:prstGeom>
          <a:noFill/>
          <a:ln/>
        </p:spPr>
        <p:txBody>
          <a:bodyPr wrap="square" rtlCol="0" anchor="t"/>
          <a:lstStyle/>
          <a:p>
            <a:pPr indent="0" marL="0">
              <a:buNone/>
            </a:pPr>
            <a:r>
              <a:rPr lang="en-US" sz="1200" dirty="0">
                <a:solidFill>
                  <a:srgbClr val="1F2937"/>
                </a:solidFill>
                <a:latin typeface="Calibri" pitchFamily="34" charset="0"/>
                <a:ea typeface="Calibri" pitchFamily="34" charset="-122"/>
                <a:cs typeface="Calibri" pitchFamily="34" charset="-120"/>
              </a:rPr>
              <a:t>Tiếng Việt toàn cầu: 100 triệu VN + 5.3 triệu kiều bào</a:t>
            </a:r>
            <a:endParaRPr lang="en-US" sz="1200" dirty="0"/>
          </a:p>
        </p:txBody>
      </p:sp>
      <p:sp>
        <p:nvSpPr>
          <p:cNvPr id="7" name="Text 5"/>
          <p:cNvSpPr/>
          <p:nvPr/>
        </p:nvSpPr>
        <p:spPr>
          <a:xfrm>
            <a:off x="4389120" y="1645920"/>
            <a:ext cx="365760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SAM (Năm 1-2)</a:t>
            </a:r>
            <a:endParaRPr lang="en-US" sz="1400" dirty="0"/>
          </a:p>
        </p:txBody>
      </p:sp>
      <p:sp>
        <p:nvSpPr>
          <p:cNvPr id="8" name="Text 6"/>
          <p:cNvSpPr/>
          <p:nvPr/>
        </p:nvSpPr>
        <p:spPr>
          <a:xfrm>
            <a:off x="4389120" y="2011680"/>
            <a:ext cx="3657600" cy="731520"/>
          </a:xfrm>
          <a:prstGeom prst="rect">
            <a:avLst/>
          </a:prstGeom>
          <a:noFill/>
          <a:ln/>
        </p:spPr>
        <p:txBody>
          <a:bodyPr wrap="square" rtlCol="0" anchor="ctr"/>
          <a:lstStyle/>
          <a:p>
            <a:pPr indent="0" marL="0">
              <a:buNone/>
            </a:pPr>
            <a:r>
              <a:rPr lang="en-US" sz="3800" b="1" dirty="0">
                <a:solidFill>
                  <a:srgbClr val="1E2761"/>
                </a:solidFill>
                <a:latin typeface="Calibri" pitchFamily="34" charset="0"/>
                <a:ea typeface="Calibri" pitchFamily="34" charset="-122"/>
                <a:cs typeface="Calibri" pitchFamily="34" charset="-120"/>
              </a:rPr>
              <a:t>77 triệu</a:t>
            </a:r>
            <a:endParaRPr lang="en-US" sz="3800" dirty="0"/>
          </a:p>
        </p:txBody>
      </p:sp>
      <p:sp>
        <p:nvSpPr>
          <p:cNvPr id="9" name="Text 7"/>
          <p:cNvSpPr/>
          <p:nvPr/>
        </p:nvSpPr>
        <p:spPr>
          <a:xfrm>
            <a:off x="4389120" y="2743200"/>
            <a:ext cx="3657600" cy="1371600"/>
          </a:xfrm>
          <a:prstGeom prst="rect">
            <a:avLst/>
          </a:prstGeom>
          <a:noFill/>
          <a:ln/>
        </p:spPr>
        <p:txBody>
          <a:bodyPr wrap="square" rtlCol="0" anchor="t"/>
          <a:lstStyle/>
          <a:p>
            <a:pPr indent="0" marL="0">
              <a:buNone/>
            </a:pPr>
            <a:r>
              <a:rPr lang="en-US" sz="1200" dirty="0">
                <a:solidFill>
                  <a:srgbClr val="1F2937"/>
                </a:solidFill>
                <a:latin typeface="Calibri" pitchFamily="34" charset="0"/>
                <a:ea typeface="Calibri" pitchFamily="34" charset="-122"/>
                <a:cs typeface="Calibri" pitchFamily="34" charset="-120"/>
              </a:rPr>
              <a:t>Người dùng internet VN; 70M smartphone với khả năng thanh toán</a:t>
            </a:r>
            <a:endParaRPr lang="en-US" sz="1200" dirty="0"/>
          </a:p>
        </p:txBody>
      </p:sp>
      <p:sp>
        <p:nvSpPr>
          <p:cNvPr id="10" name="Text 8"/>
          <p:cNvSpPr/>
          <p:nvPr/>
        </p:nvSpPr>
        <p:spPr>
          <a:xfrm>
            <a:off x="8229600" y="1645920"/>
            <a:ext cx="3657600" cy="365760"/>
          </a:xfrm>
          <a:prstGeom prst="rect">
            <a:avLst/>
          </a:prstGeom>
          <a:noFill/>
          <a:ln/>
        </p:spPr>
        <p:txBody>
          <a:bodyPr wrap="square" rtlCol="0" anchor="ctr"/>
          <a:lstStyle/>
          <a:p>
            <a:pPr indent="0" marL="0">
              <a:buNone/>
            </a:pPr>
            <a:r>
              <a:rPr lang="en-US" sz="1400" b="1" dirty="0">
                <a:solidFill>
                  <a:srgbClr val="FACC15"/>
                </a:solidFill>
                <a:latin typeface="Calibri" pitchFamily="34" charset="0"/>
                <a:ea typeface="Calibri" pitchFamily="34" charset="-122"/>
                <a:cs typeface="Calibri" pitchFamily="34" charset="-120"/>
              </a:rPr>
              <a:t>SOM (Năm 1)</a:t>
            </a:r>
            <a:endParaRPr lang="en-US" sz="1400" dirty="0"/>
          </a:p>
        </p:txBody>
      </p:sp>
      <p:sp>
        <p:nvSpPr>
          <p:cNvPr id="11" name="Text 9"/>
          <p:cNvSpPr/>
          <p:nvPr/>
        </p:nvSpPr>
        <p:spPr>
          <a:xfrm>
            <a:off x="8229600" y="2011680"/>
            <a:ext cx="3657600" cy="731520"/>
          </a:xfrm>
          <a:prstGeom prst="rect">
            <a:avLst/>
          </a:prstGeom>
          <a:noFill/>
          <a:ln/>
        </p:spPr>
        <p:txBody>
          <a:bodyPr wrap="square" rtlCol="0" anchor="ctr"/>
          <a:lstStyle/>
          <a:p>
            <a:pPr indent="0" marL="0">
              <a:buNone/>
            </a:pPr>
            <a:r>
              <a:rPr lang="en-US" sz="3800" b="1" dirty="0">
                <a:solidFill>
                  <a:srgbClr val="1E2761"/>
                </a:solidFill>
                <a:latin typeface="Calibri" pitchFamily="34" charset="0"/>
                <a:ea typeface="Calibri" pitchFamily="34" charset="-122"/>
                <a:cs typeface="Calibri" pitchFamily="34" charset="-120"/>
              </a:rPr>
              <a:t>12K</a:t>
            </a:r>
            <a:endParaRPr lang="en-US" sz="3800" dirty="0"/>
          </a:p>
        </p:txBody>
      </p:sp>
      <p:sp>
        <p:nvSpPr>
          <p:cNvPr id="12" name="Text 10"/>
          <p:cNvSpPr/>
          <p:nvPr/>
        </p:nvSpPr>
        <p:spPr>
          <a:xfrm>
            <a:off x="8229600" y="2743200"/>
            <a:ext cx="3657600" cy="1371600"/>
          </a:xfrm>
          <a:prstGeom prst="rect">
            <a:avLst/>
          </a:prstGeom>
          <a:noFill/>
          <a:ln/>
        </p:spPr>
        <p:txBody>
          <a:bodyPr wrap="square" rtlCol="0" anchor="t"/>
          <a:lstStyle/>
          <a:p>
            <a:pPr indent="0" marL="0">
              <a:buNone/>
            </a:pPr>
            <a:r>
              <a:rPr lang="en-US" sz="1200" dirty="0">
                <a:solidFill>
                  <a:srgbClr val="1F2937"/>
                </a:solidFill>
                <a:latin typeface="Calibri" pitchFamily="34" charset="0"/>
                <a:ea typeface="Calibri" pitchFamily="34" charset="-122"/>
                <a:cs typeface="Calibri" pitchFamily="34" charset="-120"/>
              </a:rPr>
              <a:t>Thành viên trả phí; 120K user miễn phí (tỷ lệ 10:1); 0.16% internet users</a:t>
            </a:r>
            <a:endParaRPr lang="en-US" sz="1200" dirty="0"/>
          </a:p>
        </p:txBody>
      </p:sp>
      <p:sp>
        <p:nvSpPr>
          <p:cNvPr id="13" name="Text 11"/>
          <p:cNvSpPr/>
          <p:nvPr/>
        </p:nvSpPr>
        <p:spPr>
          <a:xfrm>
            <a:off x="548640" y="4572000"/>
            <a:ext cx="11155680" cy="1280160"/>
          </a:xfrm>
          <a:prstGeom prst="rect">
            <a:avLst/>
          </a:prstGeom>
          <a:noFill/>
          <a:ln/>
        </p:spPr>
        <p:txBody>
          <a:bodyPr wrap="square" rtlCol="0" anchor="t"/>
          <a:lstStyle/>
          <a:p>
            <a:pPr indent="0" marL="0">
              <a:buNone/>
            </a:pPr>
            <a:r>
              <a:rPr lang="en-US" sz="1400" i="1" dirty="0">
                <a:solidFill>
                  <a:srgbClr val="475569"/>
                </a:solidFill>
                <a:latin typeface="Calibri" pitchFamily="34" charset="0"/>
                <a:ea typeface="Calibri" pitchFamily="34" charset="-122"/>
                <a:cs typeface="Calibri" pitchFamily="34" charset="-120"/>
              </a:rPr>
              <a:t>Năm 3 mở rộng: 650 triệu Đông Nam Á. Năm 4-5: 1.5 tỷ người nói tiếng Anh. Song ngữ + chuẩn W3C VC giúp rollout toàn cầu chỉ là port — không rebuild.</a:t>
            </a:r>
            <a:endParaRPr lang="en-US" sz="1400" dirty="0"/>
          </a:p>
        </p:txBody>
      </p:sp>
      <p:sp>
        <p:nvSpPr>
          <p:cNvPr id="14" name="Text 12"/>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15" name="Text 13"/>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06 · MÔ HÌNH KINH DOANH</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8 dòng doanh thu bổ trợ</a:t>
            </a:r>
            <a:endParaRPr lang="en-US" sz="3000" dirty="0"/>
          </a:p>
        </p:txBody>
      </p:sp>
      <p:sp>
        <p:nvSpPr>
          <p:cNvPr id="4" name="Shape 2"/>
          <p:cNvSpPr/>
          <p:nvPr/>
        </p:nvSpPr>
        <p:spPr>
          <a:xfrm>
            <a:off x="548640" y="1645920"/>
            <a:ext cx="548640" cy="457200"/>
          </a:xfrm>
          <a:prstGeom prst="rect">
            <a:avLst/>
          </a:prstGeom>
          <a:solidFill>
            <a:srgbClr val="1E2761"/>
          </a:solidFill>
          <a:ln/>
        </p:spPr>
      </p:sp>
      <p:sp>
        <p:nvSpPr>
          <p:cNvPr id="5" name="Text 3"/>
          <p:cNvSpPr/>
          <p:nvPr/>
        </p:nvSpPr>
        <p:spPr>
          <a:xfrm>
            <a:off x="548640" y="164592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097280" y="1645920"/>
            <a:ext cx="10515600" cy="457200"/>
          </a:xfrm>
          <a:prstGeom prst="rect">
            <a:avLst/>
          </a:prstGeom>
          <a:solidFill>
            <a:srgbClr val="CADCFC"/>
          </a:solidFill>
          <a:ln/>
        </p:spPr>
      </p:sp>
      <p:sp>
        <p:nvSpPr>
          <p:cNvPr id="7" name="Text 5"/>
          <p:cNvSpPr/>
          <p:nvPr/>
        </p:nvSpPr>
        <p:spPr>
          <a:xfrm>
            <a:off x="1280160" y="164592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Annual Access (lifetime unlock)</a:t>
            </a:r>
            <a:endParaRPr lang="en-US" sz="1300" dirty="0"/>
          </a:p>
        </p:txBody>
      </p:sp>
      <p:sp>
        <p:nvSpPr>
          <p:cNvPr id="8" name="Text 6"/>
          <p:cNvSpPr/>
          <p:nvPr/>
        </p:nvSpPr>
        <p:spPr>
          <a:xfrm>
            <a:off x="6400800" y="164592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B2C subscription</a:t>
            </a:r>
            <a:endParaRPr lang="en-US" sz="1100" dirty="0"/>
          </a:p>
        </p:txBody>
      </p:sp>
      <p:sp>
        <p:nvSpPr>
          <p:cNvPr id="9" name="Text 7"/>
          <p:cNvSpPr/>
          <p:nvPr/>
        </p:nvSpPr>
        <p:spPr>
          <a:xfrm>
            <a:off x="9966960" y="164592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$99 / năm</a:t>
            </a:r>
            <a:endParaRPr lang="en-US" sz="1100" dirty="0"/>
          </a:p>
        </p:txBody>
      </p:sp>
      <p:sp>
        <p:nvSpPr>
          <p:cNvPr id="10" name="Shape 8"/>
          <p:cNvSpPr/>
          <p:nvPr/>
        </p:nvSpPr>
        <p:spPr>
          <a:xfrm>
            <a:off x="548640" y="2148840"/>
            <a:ext cx="548640" cy="457200"/>
          </a:xfrm>
          <a:prstGeom prst="rect">
            <a:avLst/>
          </a:prstGeom>
          <a:solidFill>
            <a:srgbClr val="1E2761"/>
          </a:solidFill>
          <a:ln/>
        </p:spPr>
      </p:sp>
      <p:sp>
        <p:nvSpPr>
          <p:cNvPr id="11" name="Text 9"/>
          <p:cNvSpPr/>
          <p:nvPr/>
        </p:nvSpPr>
        <p:spPr>
          <a:xfrm>
            <a:off x="548640" y="214884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2</a:t>
            </a:r>
            <a:endParaRPr lang="en-US" sz="1600" dirty="0"/>
          </a:p>
        </p:txBody>
      </p:sp>
      <p:sp>
        <p:nvSpPr>
          <p:cNvPr id="12" name="Shape 10"/>
          <p:cNvSpPr/>
          <p:nvPr/>
        </p:nvSpPr>
        <p:spPr>
          <a:xfrm>
            <a:off x="1097280" y="2148840"/>
            <a:ext cx="10515600" cy="457200"/>
          </a:xfrm>
          <a:prstGeom prst="rect">
            <a:avLst/>
          </a:prstGeom>
          <a:solidFill>
            <a:srgbClr val="CADCFC"/>
          </a:solidFill>
          <a:ln/>
        </p:spPr>
      </p:sp>
      <p:sp>
        <p:nvSpPr>
          <p:cNvPr id="13" name="Text 11"/>
          <p:cNvSpPr/>
          <p:nvPr/>
        </p:nvSpPr>
        <p:spPr>
          <a:xfrm>
            <a:off x="1280160" y="214884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Specialist Packs</a:t>
            </a:r>
            <a:endParaRPr lang="en-US" sz="1300" dirty="0"/>
          </a:p>
        </p:txBody>
      </p:sp>
      <p:sp>
        <p:nvSpPr>
          <p:cNvPr id="14" name="Text 12"/>
          <p:cNvSpPr/>
          <p:nvPr/>
        </p:nvSpPr>
        <p:spPr>
          <a:xfrm>
            <a:off x="6400800" y="214884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B2C mua một lần</a:t>
            </a:r>
            <a:endParaRPr lang="en-US" sz="1100" dirty="0"/>
          </a:p>
        </p:txBody>
      </p:sp>
      <p:sp>
        <p:nvSpPr>
          <p:cNvPr id="15" name="Text 13"/>
          <p:cNvSpPr/>
          <p:nvPr/>
        </p:nvSpPr>
        <p:spPr>
          <a:xfrm>
            <a:off x="9966960" y="214884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$19-49</a:t>
            </a:r>
            <a:endParaRPr lang="en-US" sz="1100" dirty="0"/>
          </a:p>
        </p:txBody>
      </p:sp>
      <p:sp>
        <p:nvSpPr>
          <p:cNvPr id="16" name="Shape 14"/>
          <p:cNvSpPr/>
          <p:nvPr/>
        </p:nvSpPr>
        <p:spPr>
          <a:xfrm>
            <a:off x="548640" y="2651760"/>
            <a:ext cx="548640" cy="457200"/>
          </a:xfrm>
          <a:prstGeom prst="rect">
            <a:avLst/>
          </a:prstGeom>
          <a:solidFill>
            <a:srgbClr val="1E2761"/>
          </a:solidFill>
          <a:ln/>
        </p:spPr>
      </p:sp>
      <p:sp>
        <p:nvSpPr>
          <p:cNvPr id="17" name="Text 15"/>
          <p:cNvSpPr/>
          <p:nvPr/>
        </p:nvSpPr>
        <p:spPr>
          <a:xfrm>
            <a:off x="548640" y="265176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3</a:t>
            </a:r>
            <a:endParaRPr lang="en-US" sz="1600" dirty="0"/>
          </a:p>
        </p:txBody>
      </p:sp>
      <p:sp>
        <p:nvSpPr>
          <p:cNvPr id="18" name="Shape 16"/>
          <p:cNvSpPr/>
          <p:nvPr/>
        </p:nvSpPr>
        <p:spPr>
          <a:xfrm>
            <a:off x="1097280" y="2651760"/>
            <a:ext cx="10515600" cy="457200"/>
          </a:xfrm>
          <a:prstGeom prst="rect">
            <a:avLst/>
          </a:prstGeom>
          <a:solidFill>
            <a:srgbClr val="CADCFC"/>
          </a:solidFill>
          <a:ln/>
        </p:spPr>
      </p:sp>
      <p:sp>
        <p:nvSpPr>
          <p:cNvPr id="19" name="Text 17"/>
          <p:cNvSpPr/>
          <p:nvPr/>
        </p:nvSpPr>
        <p:spPr>
          <a:xfrm>
            <a:off x="1280160" y="265176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Job Marketplace</a:t>
            </a:r>
            <a:endParaRPr lang="en-US" sz="1300" dirty="0"/>
          </a:p>
        </p:txBody>
      </p:sp>
      <p:sp>
        <p:nvSpPr>
          <p:cNvPr id="20" name="Text 18"/>
          <p:cNvSpPr/>
          <p:nvPr/>
        </p:nvSpPr>
        <p:spPr>
          <a:xfrm>
            <a:off x="6400800" y="265176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Escrow + phí payout trên GMV</a:t>
            </a:r>
            <a:endParaRPr lang="en-US" sz="1100" dirty="0"/>
          </a:p>
        </p:txBody>
      </p:sp>
      <p:sp>
        <p:nvSpPr>
          <p:cNvPr id="21" name="Text 19"/>
          <p:cNvSpPr/>
          <p:nvPr/>
        </p:nvSpPr>
        <p:spPr>
          <a:xfrm>
            <a:off x="9966960" y="265176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8-10%</a:t>
            </a:r>
            <a:endParaRPr lang="en-US" sz="1100" dirty="0"/>
          </a:p>
        </p:txBody>
      </p:sp>
      <p:sp>
        <p:nvSpPr>
          <p:cNvPr id="22" name="Shape 20"/>
          <p:cNvSpPr/>
          <p:nvPr/>
        </p:nvSpPr>
        <p:spPr>
          <a:xfrm>
            <a:off x="548640" y="3154680"/>
            <a:ext cx="548640" cy="457200"/>
          </a:xfrm>
          <a:prstGeom prst="rect">
            <a:avLst/>
          </a:prstGeom>
          <a:solidFill>
            <a:srgbClr val="1E2761"/>
          </a:solidFill>
          <a:ln/>
        </p:spPr>
      </p:sp>
      <p:sp>
        <p:nvSpPr>
          <p:cNvPr id="23" name="Text 21"/>
          <p:cNvSpPr/>
          <p:nvPr/>
        </p:nvSpPr>
        <p:spPr>
          <a:xfrm>
            <a:off x="548640" y="315468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4</a:t>
            </a:r>
            <a:endParaRPr lang="en-US" sz="1600" dirty="0"/>
          </a:p>
        </p:txBody>
      </p:sp>
      <p:sp>
        <p:nvSpPr>
          <p:cNvPr id="24" name="Shape 22"/>
          <p:cNvSpPr/>
          <p:nvPr/>
        </p:nvSpPr>
        <p:spPr>
          <a:xfrm>
            <a:off x="1097280" y="3154680"/>
            <a:ext cx="10515600" cy="457200"/>
          </a:xfrm>
          <a:prstGeom prst="rect">
            <a:avLst/>
          </a:prstGeom>
          <a:solidFill>
            <a:srgbClr val="CADCFC"/>
          </a:solidFill>
          <a:ln/>
        </p:spPr>
      </p:sp>
      <p:sp>
        <p:nvSpPr>
          <p:cNvPr id="25" name="Text 23"/>
          <p:cNvSpPr/>
          <p:nvPr/>
        </p:nvSpPr>
        <p:spPr>
          <a:xfrm>
            <a:off x="1280160" y="315468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Phí Payout Ví</a:t>
            </a:r>
            <a:endParaRPr lang="en-US" sz="1300" dirty="0"/>
          </a:p>
        </p:txBody>
      </p:sp>
      <p:sp>
        <p:nvSpPr>
          <p:cNvPr id="26" name="Text 24"/>
          <p:cNvSpPr/>
          <p:nvPr/>
        </p:nvSpPr>
        <p:spPr>
          <a:xfrm>
            <a:off x="6400800" y="315468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Free 2%, Elite 0%</a:t>
            </a:r>
            <a:endParaRPr lang="en-US" sz="1100" dirty="0"/>
          </a:p>
        </p:txBody>
      </p:sp>
      <p:sp>
        <p:nvSpPr>
          <p:cNvPr id="27" name="Text 25"/>
          <p:cNvSpPr/>
          <p:nvPr/>
        </p:nvSpPr>
        <p:spPr>
          <a:xfrm>
            <a:off x="9966960" y="315468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2% / payout</a:t>
            </a:r>
            <a:endParaRPr lang="en-US" sz="1100" dirty="0"/>
          </a:p>
        </p:txBody>
      </p:sp>
      <p:sp>
        <p:nvSpPr>
          <p:cNvPr id="28" name="Shape 26"/>
          <p:cNvSpPr/>
          <p:nvPr/>
        </p:nvSpPr>
        <p:spPr>
          <a:xfrm>
            <a:off x="548640" y="3657600"/>
            <a:ext cx="548640" cy="457200"/>
          </a:xfrm>
          <a:prstGeom prst="rect">
            <a:avLst/>
          </a:prstGeom>
          <a:solidFill>
            <a:srgbClr val="1E2761"/>
          </a:solidFill>
          <a:ln/>
        </p:spPr>
      </p:sp>
      <p:sp>
        <p:nvSpPr>
          <p:cNvPr id="29" name="Text 27"/>
          <p:cNvSpPr/>
          <p:nvPr/>
        </p:nvSpPr>
        <p:spPr>
          <a:xfrm>
            <a:off x="548640" y="365760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5</a:t>
            </a:r>
            <a:endParaRPr lang="en-US" sz="1600" dirty="0"/>
          </a:p>
        </p:txBody>
      </p:sp>
      <p:sp>
        <p:nvSpPr>
          <p:cNvPr id="30" name="Shape 28"/>
          <p:cNvSpPr/>
          <p:nvPr/>
        </p:nvSpPr>
        <p:spPr>
          <a:xfrm>
            <a:off x="1097280" y="3657600"/>
            <a:ext cx="10515600" cy="457200"/>
          </a:xfrm>
          <a:prstGeom prst="rect">
            <a:avLst/>
          </a:prstGeom>
          <a:solidFill>
            <a:srgbClr val="CADCFC"/>
          </a:solidFill>
          <a:ln/>
        </p:spPr>
      </p:sp>
      <p:sp>
        <p:nvSpPr>
          <p:cNvPr id="31" name="Text 29"/>
          <p:cNvSpPr/>
          <p:nvPr/>
        </p:nvSpPr>
        <p:spPr>
          <a:xfrm>
            <a:off x="1280160" y="365760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Affiliate Program</a:t>
            </a:r>
            <a:endParaRPr lang="en-US" sz="1300" dirty="0"/>
          </a:p>
        </p:txBody>
      </p:sp>
      <p:sp>
        <p:nvSpPr>
          <p:cNvPr id="32" name="Text 30"/>
          <p:cNvSpPr/>
          <p:nvPr/>
        </p:nvSpPr>
        <p:spPr>
          <a:xfrm>
            <a:off x="6400800" y="365760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Hoa hồng pass-through</a:t>
            </a:r>
            <a:endParaRPr lang="en-US" sz="1100" dirty="0"/>
          </a:p>
        </p:txBody>
      </p:sp>
      <p:sp>
        <p:nvSpPr>
          <p:cNvPr id="33" name="Text 31"/>
          <p:cNvSpPr/>
          <p:nvPr/>
        </p:nvSpPr>
        <p:spPr>
          <a:xfrm>
            <a:off x="9966960" y="365760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10-20%</a:t>
            </a:r>
            <a:endParaRPr lang="en-US" sz="1100" dirty="0"/>
          </a:p>
        </p:txBody>
      </p:sp>
      <p:sp>
        <p:nvSpPr>
          <p:cNvPr id="34" name="Shape 32"/>
          <p:cNvSpPr/>
          <p:nvPr/>
        </p:nvSpPr>
        <p:spPr>
          <a:xfrm>
            <a:off x="548640" y="4160520"/>
            <a:ext cx="548640" cy="457200"/>
          </a:xfrm>
          <a:prstGeom prst="rect">
            <a:avLst/>
          </a:prstGeom>
          <a:solidFill>
            <a:srgbClr val="1E2761"/>
          </a:solidFill>
          <a:ln/>
        </p:spPr>
      </p:sp>
      <p:sp>
        <p:nvSpPr>
          <p:cNvPr id="35" name="Text 33"/>
          <p:cNvSpPr/>
          <p:nvPr/>
        </p:nvSpPr>
        <p:spPr>
          <a:xfrm>
            <a:off x="548640" y="416052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6</a:t>
            </a:r>
            <a:endParaRPr lang="en-US" sz="1600" dirty="0"/>
          </a:p>
        </p:txBody>
      </p:sp>
      <p:sp>
        <p:nvSpPr>
          <p:cNvPr id="36" name="Shape 34"/>
          <p:cNvSpPr/>
          <p:nvPr/>
        </p:nvSpPr>
        <p:spPr>
          <a:xfrm>
            <a:off x="1097280" y="4160520"/>
            <a:ext cx="10515600" cy="457200"/>
          </a:xfrm>
          <a:prstGeom prst="rect">
            <a:avLst/>
          </a:prstGeom>
          <a:solidFill>
            <a:srgbClr val="CADCFC"/>
          </a:solidFill>
          <a:ln/>
        </p:spPr>
      </p:sp>
      <p:sp>
        <p:nvSpPr>
          <p:cNvPr id="37" name="Text 35"/>
          <p:cNvSpPr/>
          <p:nvPr/>
        </p:nvSpPr>
        <p:spPr>
          <a:xfrm>
            <a:off x="1280160" y="416052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B2B Identity API</a:t>
            </a:r>
            <a:endParaRPr lang="en-US" sz="1300" dirty="0"/>
          </a:p>
        </p:txBody>
      </p:sp>
      <p:sp>
        <p:nvSpPr>
          <p:cNvPr id="38" name="Text 36"/>
          <p:cNvSpPr/>
          <p:nvPr/>
        </p:nvSpPr>
        <p:spPr>
          <a:xfrm>
            <a:off x="6400800" y="416052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Phí mỗi verification</a:t>
            </a:r>
            <a:endParaRPr lang="en-US" sz="1100" dirty="0"/>
          </a:p>
        </p:txBody>
      </p:sp>
      <p:sp>
        <p:nvSpPr>
          <p:cNvPr id="39" name="Text 37"/>
          <p:cNvSpPr/>
          <p:nvPr/>
        </p:nvSpPr>
        <p:spPr>
          <a:xfrm>
            <a:off x="9966960" y="416052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$0.50-2.00</a:t>
            </a:r>
            <a:endParaRPr lang="en-US" sz="1100" dirty="0"/>
          </a:p>
        </p:txBody>
      </p:sp>
      <p:sp>
        <p:nvSpPr>
          <p:cNvPr id="40" name="Shape 38"/>
          <p:cNvSpPr/>
          <p:nvPr/>
        </p:nvSpPr>
        <p:spPr>
          <a:xfrm>
            <a:off x="548640" y="4663440"/>
            <a:ext cx="548640" cy="457200"/>
          </a:xfrm>
          <a:prstGeom prst="rect">
            <a:avLst/>
          </a:prstGeom>
          <a:solidFill>
            <a:srgbClr val="1E2761"/>
          </a:solidFill>
          <a:ln/>
        </p:spPr>
      </p:sp>
      <p:sp>
        <p:nvSpPr>
          <p:cNvPr id="41" name="Text 39"/>
          <p:cNvSpPr/>
          <p:nvPr/>
        </p:nvSpPr>
        <p:spPr>
          <a:xfrm>
            <a:off x="548640" y="466344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7</a:t>
            </a:r>
            <a:endParaRPr lang="en-US" sz="1600" dirty="0"/>
          </a:p>
        </p:txBody>
      </p:sp>
      <p:sp>
        <p:nvSpPr>
          <p:cNvPr id="42" name="Shape 40"/>
          <p:cNvSpPr/>
          <p:nvPr/>
        </p:nvSpPr>
        <p:spPr>
          <a:xfrm>
            <a:off x="1097280" y="4663440"/>
            <a:ext cx="10515600" cy="457200"/>
          </a:xfrm>
          <a:prstGeom prst="rect">
            <a:avLst/>
          </a:prstGeom>
          <a:solidFill>
            <a:srgbClr val="CADCFC"/>
          </a:solidFill>
          <a:ln/>
        </p:spPr>
      </p:sp>
      <p:sp>
        <p:nvSpPr>
          <p:cNvPr id="43" name="Text 41"/>
          <p:cNvSpPr/>
          <p:nvPr/>
        </p:nvSpPr>
        <p:spPr>
          <a:xfrm>
            <a:off x="1280160" y="466344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B2B VC Issuer License</a:t>
            </a:r>
            <a:endParaRPr lang="en-US" sz="1300" dirty="0"/>
          </a:p>
        </p:txBody>
      </p:sp>
      <p:sp>
        <p:nvSpPr>
          <p:cNvPr id="44" name="Text 42"/>
          <p:cNvSpPr/>
          <p:nvPr/>
        </p:nvSpPr>
        <p:spPr>
          <a:xfrm>
            <a:off x="6400800" y="466344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Subscription năm cho issuer</a:t>
            </a:r>
            <a:endParaRPr lang="en-US" sz="1100" dirty="0"/>
          </a:p>
        </p:txBody>
      </p:sp>
      <p:sp>
        <p:nvSpPr>
          <p:cNvPr id="45" name="Text 43"/>
          <p:cNvSpPr/>
          <p:nvPr/>
        </p:nvSpPr>
        <p:spPr>
          <a:xfrm>
            <a:off x="9966960" y="466344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$5K-25K / năm</a:t>
            </a:r>
            <a:endParaRPr lang="en-US" sz="1100" dirty="0"/>
          </a:p>
        </p:txBody>
      </p:sp>
      <p:sp>
        <p:nvSpPr>
          <p:cNvPr id="46" name="Shape 44"/>
          <p:cNvSpPr/>
          <p:nvPr/>
        </p:nvSpPr>
        <p:spPr>
          <a:xfrm>
            <a:off x="548640" y="5166360"/>
            <a:ext cx="548640" cy="457200"/>
          </a:xfrm>
          <a:prstGeom prst="rect">
            <a:avLst/>
          </a:prstGeom>
          <a:solidFill>
            <a:srgbClr val="1E2761"/>
          </a:solidFill>
          <a:ln/>
        </p:spPr>
      </p:sp>
      <p:sp>
        <p:nvSpPr>
          <p:cNvPr id="47" name="Text 45"/>
          <p:cNvSpPr/>
          <p:nvPr/>
        </p:nvSpPr>
        <p:spPr>
          <a:xfrm>
            <a:off x="548640" y="5166360"/>
            <a:ext cx="548640" cy="457200"/>
          </a:xfrm>
          <a:prstGeom prst="rect">
            <a:avLst/>
          </a:prstGeom>
          <a:noFill/>
          <a:ln/>
        </p:spPr>
        <p:txBody>
          <a:bodyPr wrap="square" rtlCol="0" anchor="ctr"/>
          <a:lstStyle/>
          <a:p>
            <a:pPr algn="ctr" indent="0" marL="0">
              <a:buNone/>
            </a:pPr>
            <a:r>
              <a:rPr lang="en-US" sz="1600" b="1" dirty="0">
                <a:solidFill>
                  <a:srgbClr val="FACC15"/>
                </a:solidFill>
                <a:latin typeface="Calibri" pitchFamily="34" charset="0"/>
                <a:ea typeface="Calibri" pitchFamily="34" charset="-122"/>
                <a:cs typeface="Calibri" pitchFamily="34" charset="-120"/>
              </a:rPr>
              <a:t>8</a:t>
            </a:r>
            <a:endParaRPr lang="en-US" sz="1600" dirty="0"/>
          </a:p>
        </p:txBody>
      </p:sp>
      <p:sp>
        <p:nvSpPr>
          <p:cNvPr id="48" name="Shape 46"/>
          <p:cNvSpPr/>
          <p:nvPr/>
        </p:nvSpPr>
        <p:spPr>
          <a:xfrm>
            <a:off x="1097280" y="5166360"/>
            <a:ext cx="10515600" cy="457200"/>
          </a:xfrm>
          <a:prstGeom prst="rect">
            <a:avLst/>
          </a:prstGeom>
          <a:solidFill>
            <a:srgbClr val="CADCFC"/>
          </a:solidFill>
          <a:ln/>
        </p:spPr>
      </p:sp>
      <p:sp>
        <p:nvSpPr>
          <p:cNvPr id="49" name="Text 47"/>
          <p:cNvSpPr/>
          <p:nvPr/>
        </p:nvSpPr>
        <p:spPr>
          <a:xfrm>
            <a:off x="1280160" y="5166360"/>
            <a:ext cx="502920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AI Tutor Premium</a:t>
            </a:r>
            <a:endParaRPr lang="en-US" sz="1300" dirty="0"/>
          </a:p>
        </p:txBody>
      </p:sp>
      <p:sp>
        <p:nvSpPr>
          <p:cNvPr id="50" name="Text 48"/>
          <p:cNvSpPr/>
          <p:nvPr/>
        </p:nvSpPr>
        <p:spPr>
          <a:xfrm>
            <a:off x="6400800" y="5166360"/>
            <a:ext cx="347472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Tích hợp Claude</a:t>
            </a:r>
            <a:endParaRPr lang="en-US" sz="1100" dirty="0"/>
          </a:p>
        </p:txBody>
      </p:sp>
      <p:sp>
        <p:nvSpPr>
          <p:cNvPr id="51" name="Text 49"/>
          <p:cNvSpPr/>
          <p:nvPr/>
        </p:nvSpPr>
        <p:spPr>
          <a:xfrm>
            <a:off x="9966960" y="5166360"/>
            <a:ext cx="1645920" cy="457200"/>
          </a:xfrm>
          <a:prstGeom prst="rect">
            <a:avLst/>
          </a:prstGeom>
          <a:noFill/>
          <a:ln/>
        </p:spPr>
        <p:txBody>
          <a:bodyPr wrap="square"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$9.99 / tháng</a:t>
            </a:r>
            <a:endParaRPr lang="en-US" sz="1100" dirty="0"/>
          </a:p>
        </p:txBody>
      </p:sp>
      <p:sp>
        <p:nvSpPr>
          <p:cNvPr id="52" name="Text 50"/>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53" name="Text 51"/>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07 · DỰ BÁO</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Lộ trình tài chính 5 năm</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828800"/>
                <a:gridCol w="1828800"/>
                <a:gridCol w="1828800"/>
                <a:gridCol w="1828800"/>
                <a:gridCol w="1828800"/>
                <a:gridCol w="1920240"/>
              </a:tblGrid>
              <a:tr h="45720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Năm</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Doanh thu (M$)</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TV trả phí</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Biên gộp</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Biên EBITDA</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Định giá trung (M$)</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2026 (N1)</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2027 (N2)</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55,000</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2028 (N3)</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$14.5</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220,000</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2029 (N4)</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620,000</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$265</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2030 (N5)</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1,650,000</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$615</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029200"/>
            <a:ext cx="11064240" cy="914400"/>
          </a:xfrm>
          <a:prstGeom prst="rect">
            <a:avLst/>
          </a:prstGeom>
          <a:noFill/>
          <a:ln/>
        </p:spPr>
        <p:txBody>
          <a:bodyPr wrap="square" rtlCol="0" anchor="t"/>
          <a:lstStyle/>
          <a:p>
            <a:pPr indent="0" marL="0">
              <a:buNone/>
            </a:pPr>
            <a:r>
              <a:rPr lang="en-US" sz="1100" i="1" dirty="0">
                <a:solidFill>
                  <a:srgbClr val="475569"/>
                </a:solidFill>
                <a:latin typeface="Calibri" pitchFamily="34" charset="0"/>
                <a:ea typeface="Calibri" pitchFamily="34" charset="-122"/>
                <a:cs typeface="Calibri" pitchFamily="34" charset="-120"/>
              </a:rPr>
              <a:t>Kịch bản cơ bản. Hệ số doanh thu giảm từ 14x (N1, pre-revenue) xuống 6.3x (N5, blended B2C + B2B SaaS). Xem Báo cáo Định giá để biết phân tích nhạy cảm.</a:t>
            </a:r>
            <a:endParaRPr lang="en-US" sz="1100" dirty="0"/>
          </a:p>
        </p:txBody>
      </p:sp>
      <p:sp>
        <p:nvSpPr>
          <p:cNvPr id="6" name="Text 3"/>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7" name="Text 4"/>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08 · LỢI NHUẬN</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Lợi nhuận nhà đầu tư theo 3 kịch bản</a:t>
            </a:r>
            <a:endParaRPr lang="en-US" sz="3000" dirty="0"/>
          </a:p>
        </p:txBody>
      </p:sp>
      <p:sp>
        <p:nvSpPr>
          <p:cNvPr id="4" name="Shape 2"/>
          <p:cNvSpPr/>
          <p:nvPr/>
        </p:nvSpPr>
        <p:spPr>
          <a:xfrm>
            <a:off x="548640" y="1645920"/>
            <a:ext cx="3566160" cy="4389120"/>
          </a:xfrm>
          <a:prstGeom prst="rect">
            <a:avLst/>
          </a:prstGeom>
          <a:solidFill>
            <a:srgbClr val="CADCFC"/>
          </a:solidFill>
          <a:ln w="12700">
            <a:solidFill>
              <a:srgbClr val="1E2761"/>
            </a:solidFill>
            <a:prstDash val="solid"/>
          </a:ln>
        </p:spPr>
      </p:sp>
      <p:sp>
        <p:nvSpPr>
          <p:cNvPr id="5" name="Text 3"/>
          <p:cNvSpPr/>
          <p:nvPr/>
        </p:nvSpPr>
        <p:spPr>
          <a:xfrm>
            <a:off x="731520" y="1783080"/>
            <a:ext cx="3200400" cy="548640"/>
          </a:xfrm>
          <a:prstGeom prst="rect">
            <a:avLst/>
          </a:prstGeom>
          <a:noFill/>
          <a:ln/>
        </p:spPr>
        <p:txBody>
          <a:bodyPr wrap="square" rtlCol="0" anchor="ctr"/>
          <a:lstStyle/>
          <a:p>
            <a:pPr algn="ctr" indent="0" marL="0">
              <a:buNone/>
            </a:pPr>
            <a:r>
              <a:rPr lang="en-US" sz="2200" b="1" dirty="0">
                <a:solidFill>
                  <a:srgbClr val="1E2761"/>
                </a:solidFill>
                <a:latin typeface="Calibri" pitchFamily="34" charset="0"/>
                <a:ea typeface="Calibri" pitchFamily="34" charset="-122"/>
                <a:cs typeface="Calibri" pitchFamily="34" charset="-120"/>
              </a:rPr>
              <a:t>BI QUAN</a:t>
            </a:r>
            <a:endParaRPr lang="en-US" sz="2200" dirty="0"/>
          </a:p>
        </p:txBody>
      </p:sp>
      <p:sp>
        <p:nvSpPr>
          <p:cNvPr id="6" name="Text 4"/>
          <p:cNvSpPr/>
          <p:nvPr/>
        </p:nvSpPr>
        <p:spPr>
          <a:xfrm>
            <a:off x="731520" y="2468880"/>
            <a:ext cx="3200400" cy="457200"/>
          </a:xfrm>
          <a:prstGeom prst="rect">
            <a:avLst/>
          </a:prstGeom>
          <a:noFill/>
          <a:ln/>
        </p:spPr>
        <p:txBody>
          <a:bodyPr wrap="square"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Doanh thu N5: $35M</a:t>
            </a:r>
            <a:endParaRPr lang="en-US" sz="1100" dirty="0"/>
          </a:p>
        </p:txBody>
      </p:sp>
      <p:sp>
        <p:nvSpPr>
          <p:cNvPr id="7" name="Text 5"/>
          <p:cNvSpPr/>
          <p:nvPr/>
        </p:nvSpPr>
        <p:spPr>
          <a:xfrm>
            <a:off x="731520" y="3017520"/>
            <a:ext cx="3200400" cy="457200"/>
          </a:xfrm>
          <a:prstGeom prst="rect">
            <a:avLst/>
          </a:prstGeom>
          <a:noFill/>
          <a:ln/>
        </p:spPr>
        <p:txBody>
          <a:bodyPr wrap="square"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Định giá N5: $175M</a:t>
            </a:r>
            <a:endParaRPr lang="en-US" sz="1100" dirty="0"/>
          </a:p>
        </p:txBody>
      </p:sp>
      <p:sp>
        <p:nvSpPr>
          <p:cNvPr id="8" name="Shape 6"/>
          <p:cNvSpPr/>
          <p:nvPr/>
        </p:nvSpPr>
        <p:spPr>
          <a:xfrm>
            <a:off x="1005840" y="3657600"/>
            <a:ext cx="2651760" cy="0"/>
          </a:xfrm>
          <a:prstGeom prst="line">
            <a:avLst/>
          </a:prstGeom>
          <a:noFill/>
          <a:ln w="12700">
            <a:solidFill>
              <a:srgbClr val="475569"/>
            </a:solidFill>
            <a:prstDash val="solid"/>
          </a:ln>
        </p:spPr>
      </p:sp>
      <p:sp>
        <p:nvSpPr>
          <p:cNvPr id="9" name="Text 7"/>
          <p:cNvSpPr/>
          <p:nvPr/>
        </p:nvSpPr>
        <p:spPr>
          <a:xfrm>
            <a:off x="731520" y="3840480"/>
            <a:ext cx="3200400" cy="36576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MOIC pre-dilution</a:t>
            </a:r>
            <a:endParaRPr lang="en-US" sz="1000" dirty="0"/>
          </a:p>
        </p:txBody>
      </p:sp>
      <p:sp>
        <p:nvSpPr>
          <p:cNvPr id="10" name="Text 8"/>
          <p:cNvSpPr/>
          <p:nvPr/>
        </p:nvSpPr>
        <p:spPr>
          <a:xfrm>
            <a:off x="731520" y="4206240"/>
            <a:ext cx="3200400" cy="822960"/>
          </a:xfrm>
          <a:prstGeom prst="rect">
            <a:avLst/>
          </a:prstGeom>
          <a:noFill/>
          <a:ln/>
        </p:spPr>
        <p:txBody>
          <a:bodyPr wrap="square" rtlCol="0" anchor="ctr"/>
          <a:lstStyle/>
          <a:p>
            <a:pPr algn="ctr" indent="0" marL="0">
              <a:buNone/>
            </a:pPr>
            <a:r>
              <a:rPr lang="en-US" sz="3800" b="1" dirty="0">
                <a:solidFill>
                  <a:srgbClr val="1E2761"/>
                </a:solidFill>
                <a:latin typeface="Calibri" pitchFamily="34" charset="0"/>
                <a:ea typeface="Calibri" pitchFamily="34" charset="-122"/>
                <a:cs typeface="Calibri" pitchFamily="34" charset="-120"/>
              </a:rPr>
              <a:t>12.5x</a:t>
            </a:r>
            <a:endParaRPr lang="en-US" sz="3800" dirty="0"/>
          </a:p>
        </p:txBody>
      </p:sp>
      <p:sp>
        <p:nvSpPr>
          <p:cNvPr id="11" name="Text 9"/>
          <p:cNvSpPr/>
          <p:nvPr/>
        </p:nvSpPr>
        <p:spPr>
          <a:xfrm>
            <a:off x="731520" y="5212080"/>
            <a:ext cx="3200400" cy="731520"/>
          </a:xfrm>
          <a:prstGeom prst="rect">
            <a:avLst/>
          </a:prstGeom>
          <a:noFill/>
          <a:ln/>
        </p:spPr>
        <p:txBody>
          <a:bodyPr wrap="square"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Áp dụng chậm, chỉ VN</a:t>
            </a:r>
            <a:endParaRPr lang="en-US" sz="1000" dirty="0"/>
          </a:p>
        </p:txBody>
      </p:sp>
      <p:sp>
        <p:nvSpPr>
          <p:cNvPr id="12" name="Shape 10"/>
          <p:cNvSpPr/>
          <p:nvPr/>
        </p:nvSpPr>
        <p:spPr>
          <a:xfrm>
            <a:off x="4343400" y="1645920"/>
            <a:ext cx="3566160" cy="4389120"/>
          </a:xfrm>
          <a:prstGeom prst="rect">
            <a:avLst/>
          </a:prstGeom>
          <a:solidFill>
            <a:srgbClr val="1E2761"/>
          </a:solidFill>
          <a:ln w="12700">
            <a:solidFill>
              <a:srgbClr val="1E2761"/>
            </a:solidFill>
            <a:prstDash val="solid"/>
          </a:ln>
        </p:spPr>
      </p:sp>
      <p:sp>
        <p:nvSpPr>
          <p:cNvPr id="13" name="Text 11"/>
          <p:cNvSpPr/>
          <p:nvPr/>
        </p:nvSpPr>
        <p:spPr>
          <a:xfrm>
            <a:off x="4526280" y="1783080"/>
            <a:ext cx="3200400" cy="548640"/>
          </a:xfrm>
          <a:prstGeom prst="rect">
            <a:avLst/>
          </a:prstGeom>
          <a:noFill/>
          <a:ln/>
        </p:spPr>
        <p:txBody>
          <a:bodyPr wrap="square" rtlCol="0" anchor="ctr"/>
          <a:lstStyle/>
          <a:p>
            <a:pPr algn="ctr" indent="0" marL="0">
              <a:buNone/>
            </a:pPr>
            <a:r>
              <a:rPr lang="en-US" sz="2200" b="1" dirty="0">
                <a:solidFill>
                  <a:srgbClr val="FACC15"/>
                </a:solidFill>
                <a:latin typeface="Calibri" pitchFamily="34" charset="0"/>
                <a:ea typeface="Calibri" pitchFamily="34" charset="-122"/>
                <a:cs typeface="Calibri" pitchFamily="34" charset="-120"/>
              </a:rPr>
              <a:t>CƠ BẢN</a:t>
            </a:r>
            <a:endParaRPr lang="en-US" sz="2200" dirty="0"/>
          </a:p>
        </p:txBody>
      </p:sp>
      <p:sp>
        <p:nvSpPr>
          <p:cNvPr id="14" name="Text 12"/>
          <p:cNvSpPr/>
          <p:nvPr/>
        </p:nvSpPr>
        <p:spPr>
          <a:xfrm>
            <a:off x="4526280" y="2468880"/>
            <a:ext cx="320040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Doanh thu N5: $98M</a:t>
            </a:r>
            <a:endParaRPr lang="en-US" sz="1100" dirty="0"/>
          </a:p>
        </p:txBody>
      </p:sp>
      <p:sp>
        <p:nvSpPr>
          <p:cNvPr id="15" name="Text 13"/>
          <p:cNvSpPr/>
          <p:nvPr/>
        </p:nvSpPr>
        <p:spPr>
          <a:xfrm>
            <a:off x="4526280" y="3017520"/>
            <a:ext cx="320040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Định giá N5: $615M</a:t>
            </a:r>
            <a:endParaRPr lang="en-US" sz="1100" dirty="0"/>
          </a:p>
        </p:txBody>
      </p:sp>
      <p:sp>
        <p:nvSpPr>
          <p:cNvPr id="16" name="Shape 14"/>
          <p:cNvSpPr/>
          <p:nvPr/>
        </p:nvSpPr>
        <p:spPr>
          <a:xfrm>
            <a:off x="4800600" y="3657600"/>
            <a:ext cx="2651760" cy="0"/>
          </a:xfrm>
          <a:prstGeom prst="line">
            <a:avLst/>
          </a:prstGeom>
          <a:noFill/>
          <a:ln w="12700">
            <a:solidFill>
              <a:srgbClr val="FACC15"/>
            </a:solidFill>
            <a:prstDash val="solid"/>
          </a:ln>
        </p:spPr>
      </p:sp>
      <p:sp>
        <p:nvSpPr>
          <p:cNvPr id="17" name="Text 15"/>
          <p:cNvSpPr/>
          <p:nvPr/>
        </p:nvSpPr>
        <p:spPr>
          <a:xfrm>
            <a:off x="4526280" y="3840480"/>
            <a:ext cx="3200400" cy="36576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MOIC pre-dilution</a:t>
            </a:r>
            <a:endParaRPr lang="en-US" sz="1000" dirty="0"/>
          </a:p>
        </p:txBody>
      </p:sp>
      <p:sp>
        <p:nvSpPr>
          <p:cNvPr id="18" name="Text 16"/>
          <p:cNvSpPr/>
          <p:nvPr/>
        </p:nvSpPr>
        <p:spPr>
          <a:xfrm>
            <a:off x="4526280" y="4206240"/>
            <a:ext cx="3200400" cy="822960"/>
          </a:xfrm>
          <a:prstGeom prst="rect">
            <a:avLst/>
          </a:prstGeom>
          <a:noFill/>
          <a:ln/>
        </p:spPr>
        <p:txBody>
          <a:bodyPr wrap="square" rtlCol="0" anchor="ctr"/>
          <a:lstStyle/>
          <a:p>
            <a:pPr algn="ctr" indent="0" marL="0">
              <a:buNone/>
            </a:pPr>
            <a:r>
              <a:rPr lang="en-US" sz="3800" b="1" dirty="0">
                <a:solidFill>
                  <a:srgbClr val="FACC15"/>
                </a:solidFill>
                <a:latin typeface="Calibri" pitchFamily="34" charset="0"/>
                <a:ea typeface="Calibri" pitchFamily="34" charset="-122"/>
                <a:cs typeface="Calibri" pitchFamily="34" charset="-120"/>
              </a:rPr>
              <a:t>43.9x</a:t>
            </a:r>
            <a:endParaRPr lang="en-US" sz="3800" dirty="0"/>
          </a:p>
        </p:txBody>
      </p:sp>
      <p:sp>
        <p:nvSpPr>
          <p:cNvPr id="19" name="Text 17"/>
          <p:cNvSpPr/>
          <p:nvPr/>
        </p:nvSpPr>
        <p:spPr>
          <a:xfrm>
            <a:off x="4526280" y="5212080"/>
            <a:ext cx="3200400" cy="731520"/>
          </a:xfrm>
          <a:prstGeom prst="rect">
            <a:avLst/>
          </a:prstGeom>
          <a:noFill/>
          <a:ln/>
        </p:spPr>
        <p:txBody>
          <a:bodyPr wrap="square"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Thực thi đúng kế hoạch</a:t>
            </a:r>
            <a:endParaRPr lang="en-US" sz="1000" dirty="0"/>
          </a:p>
        </p:txBody>
      </p:sp>
      <p:sp>
        <p:nvSpPr>
          <p:cNvPr id="20" name="Shape 18"/>
          <p:cNvSpPr/>
          <p:nvPr/>
        </p:nvSpPr>
        <p:spPr>
          <a:xfrm>
            <a:off x="8138160" y="1645920"/>
            <a:ext cx="3566160" cy="4389120"/>
          </a:xfrm>
          <a:prstGeom prst="rect">
            <a:avLst/>
          </a:prstGeom>
          <a:solidFill>
            <a:srgbClr val="CADCFC"/>
          </a:solidFill>
          <a:ln w="12700">
            <a:solidFill>
              <a:srgbClr val="1E2761"/>
            </a:solidFill>
            <a:prstDash val="solid"/>
          </a:ln>
        </p:spPr>
      </p:sp>
      <p:sp>
        <p:nvSpPr>
          <p:cNvPr id="21" name="Text 19"/>
          <p:cNvSpPr/>
          <p:nvPr/>
        </p:nvSpPr>
        <p:spPr>
          <a:xfrm>
            <a:off x="8321040" y="1783080"/>
            <a:ext cx="3200400" cy="548640"/>
          </a:xfrm>
          <a:prstGeom prst="rect">
            <a:avLst/>
          </a:prstGeom>
          <a:noFill/>
          <a:ln/>
        </p:spPr>
        <p:txBody>
          <a:bodyPr wrap="square" rtlCol="0" anchor="ctr"/>
          <a:lstStyle/>
          <a:p>
            <a:pPr algn="ctr" indent="0" marL="0">
              <a:buNone/>
            </a:pPr>
            <a:r>
              <a:rPr lang="en-US" sz="2200" b="1" dirty="0">
                <a:solidFill>
                  <a:srgbClr val="1E2761"/>
                </a:solidFill>
                <a:latin typeface="Calibri" pitchFamily="34" charset="0"/>
                <a:ea typeface="Calibri" pitchFamily="34" charset="-122"/>
                <a:cs typeface="Calibri" pitchFamily="34" charset="-120"/>
              </a:rPr>
              <a:t>LẠC QUAN</a:t>
            </a:r>
            <a:endParaRPr lang="en-US" sz="2200" dirty="0"/>
          </a:p>
        </p:txBody>
      </p:sp>
      <p:sp>
        <p:nvSpPr>
          <p:cNvPr id="22" name="Text 20"/>
          <p:cNvSpPr/>
          <p:nvPr/>
        </p:nvSpPr>
        <p:spPr>
          <a:xfrm>
            <a:off x="8321040" y="2468880"/>
            <a:ext cx="3200400" cy="457200"/>
          </a:xfrm>
          <a:prstGeom prst="rect">
            <a:avLst/>
          </a:prstGeom>
          <a:noFill/>
          <a:ln/>
        </p:spPr>
        <p:txBody>
          <a:bodyPr wrap="square"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Doanh thu N5: $165M</a:t>
            </a:r>
            <a:endParaRPr lang="en-US" sz="1100" dirty="0"/>
          </a:p>
        </p:txBody>
      </p:sp>
      <p:sp>
        <p:nvSpPr>
          <p:cNvPr id="23" name="Text 21"/>
          <p:cNvSpPr/>
          <p:nvPr/>
        </p:nvSpPr>
        <p:spPr>
          <a:xfrm>
            <a:off x="8321040" y="3017520"/>
            <a:ext cx="3200400" cy="457200"/>
          </a:xfrm>
          <a:prstGeom prst="rect">
            <a:avLst/>
          </a:prstGeom>
          <a:noFill/>
          <a:ln/>
        </p:spPr>
        <p:txBody>
          <a:bodyPr wrap="square"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Định giá N5: $1.15B</a:t>
            </a:r>
            <a:endParaRPr lang="en-US" sz="1100" dirty="0"/>
          </a:p>
        </p:txBody>
      </p:sp>
      <p:sp>
        <p:nvSpPr>
          <p:cNvPr id="24" name="Shape 22"/>
          <p:cNvSpPr/>
          <p:nvPr/>
        </p:nvSpPr>
        <p:spPr>
          <a:xfrm>
            <a:off x="8595360" y="3657600"/>
            <a:ext cx="2651760" cy="0"/>
          </a:xfrm>
          <a:prstGeom prst="line">
            <a:avLst/>
          </a:prstGeom>
          <a:noFill/>
          <a:ln w="12700">
            <a:solidFill>
              <a:srgbClr val="475569"/>
            </a:solidFill>
            <a:prstDash val="solid"/>
          </a:ln>
        </p:spPr>
      </p:sp>
      <p:sp>
        <p:nvSpPr>
          <p:cNvPr id="25" name="Text 23"/>
          <p:cNvSpPr/>
          <p:nvPr/>
        </p:nvSpPr>
        <p:spPr>
          <a:xfrm>
            <a:off x="8321040" y="3840480"/>
            <a:ext cx="3200400" cy="36576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MOIC pre-dilution</a:t>
            </a:r>
            <a:endParaRPr lang="en-US" sz="1000" dirty="0"/>
          </a:p>
        </p:txBody>
      </p:sp>
      <p:sp>
        <p:nvSpPr>
          <p:cNvPr id="26" name="Text 24"/>
          <p:cNvSpPr/>
          <p:nvPr/>
        </p:nvSpPr>
        <p:spPr>
          <a:xfrm>
            <a:off x="8321040" y="4206240"/>
            <a:ext cx="3200400" cy="822960"/>
          </a:xfrm>
          <a:prstGeom prst="rect">
            <a:avLst/>
          </a:prstGeom>
          <a:noFill/>
          <a:ln/>
        </p:spPr>
        <p:txBody>
          <a:bodyPr wrap="square" rtlCol="0" anchor="ctr"/>
          <a:lstStyle/>
          <a:p>
            <a:pPr algn="ctr" indent="0" marL="0">
              <a:buNone/>
            </a:pPr>
            <a:r>
              <a:rPr lang="en-US" sz="3800" b="1" dirty="0">
                <a:solidFill>
                  <a:srgbClr val="1E2761"/>
                </a:solidFill>
                <a:latin typeface="Calibri" pitchFamily="34" charset="0"/>
                <a:ea typeface="Calibri" pitchFamily="34" charset="-122"/>
                <a:cs typeface="Calibri" pitchFamily="34" charset="-120"/>
              </a:rPr>
              <a:t>82.0x</a:t>
            </a:r>
            <a:endParaRPr lang="en-US" sz="3800" dirty="0"/>
          </a:p>
        </p:txBody>
      </p:sp>
      <p:sp>
        <p:nvSpPr>
          <p:cNvPr id="27" name="Text 25"/>
          <p:cNvSpPr/>
          <p:nvPr/>
        </p:nvSpPr>
        <p:spPr>
          <a:xfrm>
            <a:off x="8321040" y="5212080"/>
            <a:ext cx="3200400" cy="731520"/>
          </a:xfrm>
          <a:prstGeom prst="rect">
            <a:avLst/>
          </a:prstGeom>
          <a:noFill/>
          <a:ln/>
        </p:spPr>
        <p:txBody>
          <a:bodyPr wrap="square"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SEA + B2B tăng tốc; tiếng Anh sớm</a:t>
            </a:r>
            <a:endParaRPr lang="en-US" sz="1000" dirty="0"/>
          </a:p>
        </p:txBody>
      </p:sp>
      <p:sp>
        <p:nvSpPr>
          <p:cNvPr id="28" name="Text 26"/>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29" name="Text 27"/>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09 · CẠNH TRANH</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Khác biệt theo từng category</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645920"/>
                <a:gridCol w="4114800"/>
                <a:gridCol w="5303520"/>
              </a:tblGrid>
              <a:tr h="6400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Lane</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Đối thủ</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Cách thắng</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Edu</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FUNiX, Topica, Coursera</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Ví tích hợp + VC credentials + giọng ưu tiên tiếng Việt</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Wallet / Pay</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MoMo, ZaloPay, VNPay</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Sổ cái định danh trước; địa chỉ định trước; đa mục đích</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Việc làm</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TopCV, VietnamWorks</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Escrow + lịch sử việc xác minh + payout cùng flow</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Cộng đồng</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Facebook Groups, Zalo</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Thành viên đã xác minh; không ads; moderation</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Định danh</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KYC vendor truyền thống</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Chuẩn W3C VC; portable; user-owned credentials</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6" name="Text 3"/>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10 · VÌ SAO BÂY GIỜ</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Bốn tailwind hội tụ</a:t>
            </a:r>
            <a:endParaRPr lang="en-US" sz="3000" dirty="0"/>
          </a:p>
        </p:txBody>
      </p:sp>
      <p:sp>
        <p:nvSpPr>
          <p:cNvPr id="4" name="Shape 2"/>
          <p:cNvSpPr/>
          <p:nvPr/>
        </p:nvSpPr>
        <p:spPr>
          <a:xfrm>
            <a:off x="548640" y="1645920"/>
            <a:ext cx="5440680" cy="2057400"/>
          </a:xfrm>
          <a:prstGeom prst="rect">
            <a:avLst/>
          </a:prstGeom>
          <a:solidFill>
            <a:srgbClr val="CADCFC"/>
          </a:solidFill>
          <a:ln/>
        </p:spPr>
      </p:sp>
      <p:sp>
        <p:nvSpPr>
          <p:cNvPr id="5" name="Shape 3"/>
          <p:cNvSpPr/>
          <p:nvPr/>
        </p:nvSpPr>
        <p:spPr>
          <a:xfrm>
            <a:off x="822960" y="1920240"/>
            <a:ext cx="640080" cy="640080"/>
          </a:xfrm>
          <a:prstGeom prst="ellipse">
            <a:avLst/>
          </a:prstGeom>
          <a:solidFill>
            <a:srgbClr val="1E2761"/>
          </a:solidFill>
          <a:ln/>
        </p:spPr>
      </p:sp>
      <p:sp>
        <p:nvSpPr>
          <p:cNvPr id="6" name="Text 4"/>
          <p:cNvSpPr/>
          <p:nvPr/>
        </p:nvSpPr>
        <p:spPr>
          <a:xfrm>
            <a:off x="822960" y="1920240"/>
            <a:ext cx="640080" cy="640080"/>
          </a:xfrm>
          <a:prstGeom prst="rect">
            <a:avLst/>
          </a:prstGeom>
          <a:noFill/>
          <a:ln/>
        </p:spPr>
        <p:txBody>
          <a:bodyPr wrap="square" rtlCol="0" anchor="ctr"/>
          <a:lstStyle/>
          <a:p>
            <a:pPr algn="ctr" indent="0" marL="0">
              <a:buNone/>
            </a:pPr>
            <a:r>
              <a:rPr lang="en-US" sz="2000" b="1" dirty="0">
                <a:solidFill>
                  <a:srgbClr val="FACC15"/>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554480" y="1920240"/>
            <a:ext cx="4297680" cy="54864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Yêu cầu ID số</a:t>
            </a:r>
            <a:endParaRPr lang="en-US" sz="1600" dirty="0"/>
          </a:p>
        </p:txBody>
      </p:sp>
      <p:sp>
        <p:nvSpPr>
          <p:cNvPr id="8" name="Text 6"/>
          <p:cNvSpPr/>
          <p:nvPr/>
        </p:nvSpPr>
        <p:spPr>
          <a:xfrm>
            <a:off x="822960" y="2651760"/>
            <a:ext cx="4937760" cy="960120"/>
          </a:xfrm>
          <a:prstGeom prst="rect">
            <a:avLst/>
          </a:prstGeom>
          <a:noFill/>
          <a:ln/>
        </p:spPr>
        <p:txBody>
          <a:bodyPr wrap="square" rtlCol="0" anchor="t"/>
          <a:lstStyle/>
          <a:p>
            <a:pPr indent="0" marL="0">
              <a:buNone/>
            </a:pPr>
            <a:r>
              <a:rPr lang="en-US" sz="1200" dirty="0">
                <a:solidFill>
                  <a:srgbClr val="1F2937"/>
                </a:solidFill>
                <a:latin typeface="Calibri" pitchFamily="34" charset="0"/>
                <a:ea typeface="Calibri" pitchFamily="34" charset="-122"/>
                <a:cs typeface="Calibri" pitchFamily="34" charset="-120"/>
              </a:rPr>
              <a:t>Nghị quyết 749/QĐ-TTg yêu cầu định danh số xác minh cho mọi công dân đến 2030. Vetuonglai là nền tảng VC thuần Việt đầu tiên đã có mã sản xuất.</a:t>
            </a:r>
            <a:endParaRPr lang="en-US" sz="1200" dirty="0"/>
          </a:p>
        </p:txBody>
      </p:sp>
      <p:sp>
        <p:nvSpPr>
          <p:cNvPr id="9" name="Shape 7"/>
          <p:cNvSpPr/>
          <p:nvPr/>
        </p:nvSpPr>
        <p:spPr>
          <a:xfrm>
            <a:off x="6172200" y="1645920"/>
            <a:ext cx="5440680" cy="2057400"/>
          </a:xfrm>
          <a:prstGeom prst="rect">
            <a:avLst/>
          </a:prstGeom>
          <a:solidFill>
            <a:srgbClr val="CADCFC"/>
          </a:solidFill>
          <a:ln/>
        </p:spPr>
      </p:sp>
      <p:sp>
        <p:nvSpPr>
          <p:cNvPr id="10" name="Shape 8"/>
          <p:cNvSpPr/>
          <p:nvPr/>
        </p:nvSpPr>
        <p:spPr>
          <a:xfrm>
            <a:off x="6446520" y="1920240"/>
            <a:ext cx="640080" cy="640080"/>
          </a:xfrm>
          <a:prstGeom prst="ellipse">
            <a:avLst/>
          </a:prstGeom>
          <a:solidFill>
            <a:srgbClr val="1E2761"/>
          </a:solidFill>
          <a:ln/>
        </p:spPr>
      </p:sp>
      <p:sp>
        <p:nvSpPr>
          <p:cNvPr id="11" name="Text 9"/>
          <p:cNvSpPr/>
          <p:nvPr/>
        </p:nvSpPr>
        <p:spPr>
          <a:xfrm>
            <a:off x="6446520" y="1920240"/>
            <a:ext cx="640080" cy="640080"/>
          </a:xfrm>
          <a:prstGeom prst="rect">
            <a:avLst/>
          </a:prstGeom>
          <a:noFill/>
          <a:ln/>
        </p:spPr>
        <p:txBody>
          <a:bodyPr wrap="square" rtlCol="0" anchor="ctr"/>
          <a:lstStyle/>
          <a:p>
            <a:pPr algn="ctr" indent="0" marL="0">
              <a:buNone/>
            </a:pPr>
            <a:r>
              <a:rPr lang="en-US" sz="2000" b="1" dirty="0">
                <a:solidFill>
                  <a:srgbClr val="FACC15"/>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7178040" y="1920240"/>
            <a:ext cx="4297680" cy="54864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W3C VC mainstream</a:t>
            </a:r>
            <a:endParaRPr lang="en-US" sz="1600" dirty="0"/>
          </a:p>
        </p:txBody>
      </p:sp>
      <p:sp>
        <p:nvSpPr>
          <p:cNvPr id="13" name="Text 11"/>
          <p:cNvSpPr/>
          <p:nvPr/>
        </p:nvSpPr>
        <p:spPr>
          <a:xfrm>
            <a:off x="6446520" y="2651760"/>
            <a:ext cx="4937760" cy="960120"/>
          </a:xfrm>
          <a:prstGeom prst="rect">
            <a:avLst/>
          </a:prstGeom>
          <a:noFill/>
          <a:ln/>
        </p:spPr>
        <p:txBody>
          <a:bodyPr wrap="square" rtlCol="0" anchor="t"/>
          <a:lstStyle/>
          <a:p>
            <a:pPr indent="0" marL="0">
              <a:buNone/>
            </a:pPr>
            <a:r>
              <a:rPr lang="en-US" sz="1200" dirty="0">
                <a:solidFill>
                  <a:srgbClr val="1F2937"/>
                </a:solidFill>
                <a:latin typeface="Calibri" pitchFamily="34" charset="0"/>
                <a:ea typeface="Calibri" pitchFamily="34" charset="-122"/>
                <a:cs typeface="Calibri" pitchFamily="34" charset="-120"/>
              </a:rPr>
              <a:t>Microsoft, Workday, Mastercard đã ra mắt sản phẩm tương thích VC trong 2024-2025. Chuẩn đã không còn thử nghiệm — đó là hạ tầng tiếp theo.</a:t>
            </a:r>
            <a:endParaRPr lang="en-US" sz="1200" dirty="0"/>
          </a:p>
        </p:txBody>
      </p:sp>
      <p:sp>
        <p:nvSpPr>
          <p:cNvPr id="14" name="Shape 12"/>
          <p:cNvSpPr/>
          <p:nvPr/>
        </p:nvSpPr>
        <p:spPr>
          <a:xfrm>
            <a:off x="548640" y="3840480"/>
            <a:ext cx="5440680" cy="2057400"/>
          </a:xfrm>
          <a:prstGeom prst="rect">
            <a:avLst/>
          </a:prstGeom>
          <a:solidFill>
            <a:srgbClr val="CADCFC"/>
          </a:solidFill>
          <a:ln/>
        </p:spPr>
      </p:sp>
      <p:sp>
        <p:nvSpPr>
          <p:cNvPr id="15" name="Shape 13"/>
          <p:cNvSpPr/>
          <p:nvPr/>
        </p:nvSpPr>
        <p:spPr>
          <a:xfrm>
            <a:off x="822960" y="4114800"/>
            <a:ext cx="640080" cy="640080"/>
          </a:xfrm>
          <a:prstGeom prst="ellipse">
            <a:avLst/>
          </a:prstGeom>
          <a:solidFill>
            <a:srgbClr val="1E2761"/>
          </a:solidFill>
          <a:ln/>
        </p:spPr>
      </p:sp>
      <p:sp>
        <p:nvSpPr>
          <p:cNvPr id="16" name="Text 14"/>
          <p:cNvSpPr/>
          <p:nvPr/>
        </p:nvSpPr>
        <p:spPr>
          <a:xfrm>
            <a:off x="822960" y="4114800"/>
            <a:ext cx="640080" cy="640080"/>
          </a:xfrm>
          <a:prstGeom prst="rect">
            <a:avLst/>
          </a:prstGeom>
          <a:noFill/>
          <a:ln/>
        </p:spPr>
        <p:txBody>
          <a:bodyPr wrap="square" rtlCol="0" anchor="ctr"/>
          <a:lstStyle/>
          <a:p>
            <a:pPr algn="ctr" indent="0" marL="0">
              <a:buNone/>
            </a:pPr>
            <a:r>
              <a:rPr lang="en-US" sz="2000" b="1" dirty="0">
                <a:solidFill>
                  <a:srgbClr val="FACC15"/>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554480" y="4114800"/>
            <a:ext cx="4297680" cy="54864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Fintech VN bùng nổ</a:t>
            </a:r>
            <a:endParaRPr lang="en-US" sz="1600" dirty="0"/>
          </a:p>
        </p:txBody>
      </p:sp>
      <p:sp>
        <p:nvSpPr>
          <p:cNvPr id="18" name="Text 16"/>
          <p:cNvSpPr/>
          <p:nvPr/>
        </p:nvSpPr>
        <p:spPr>
          <a:xfrm>
            <a:off x="822960" y="4846320"/>
            <a:ext cx="4937760" cy="960120"/>
          </a:xfrm>
          <a:prstGeom prst="rect">
            <a:avLst/>
          </a:prstGeom>
          <a:noFill/>
          <a:ln/>
        </p:spPr>
        <p:txBody>
          <a:bodyPr wrap="square" rtlCol="0" anchor="t"/>
          <a:lstStyle/>
          <a:p>
            <a:pPr indent="0" marL="0">
              <a:buNone/>
            </a:pPr>
            <a:r>
              <a:rPr lang="en-US" sz="1200" dirty="0">
                <a:solidFill>
                  <a:srgbClr val="1F2937"/>
                </a:solidFill>
                <a:latin typeface="Calibri" pitchFamily="34" charset="0"/>
                <a:ea typeface="Calibri" pitchFamily="34" charset="-122"/>
                <a:cs typeface="Calibri" pitchFamily="34" charset="-120"/>
              </a:rPr>
              <a:t>Thị trường fintech VN đạt $18B vào 2025; thanh toán di động tăng 158% năm 2024. Định danh là đường ray còn thiếu.</a:t>
            </a:r>
            <a:endParaRPr lang="en-US" sz="1200" dirty="0"/>
          </a:p>
        </p:txBody>
      </p:sp>
      <p:sp>
        <p:nvSpPr>
          <p:cNvPr id="19" name="Shape 17"/>
          <p:cNvSpPr/>
          <p:nvPr/>
        </p:nvSpPr>
        <p:spPr>
          <a:xfrm>
            <a:off x="6172200" y="3840480"/>
            <a:ext cx="5440680" cy="2057400"/>
          </a:xfrm>
          <a:prstGeom prst="rect">
            <a:avLst/>
          </a:prstGeom>
          <a:solidFill>
            <a:srgbClr val="CADCFC"/>
          </a:solidFill>
          <a:ln/>
        </p:spPr>
      </p:sp>
      <p:sp>
        <p:nvSpPr>
          <p:cNvPr id="20" name="Shape 18"/>
          <p:cNvSpPr/>
          <p:nvPr/>
        </p:nvSpPr>
        <p:spPr>
          <a:xfrm>
            <a:off x="6446520" y="4114800"/>
            <a:ext cx="640080" cy="640080"/>
          </a:xfrm>
          <a:prstGeom prst="ellipse">
            <a:avLst/>
          </a:prstGeom>
          <a:solidFill>
            <a:srgbClr val="1E2761"/>
          </a:solidFill>
          <a:ln/>
        </p:spPr>
      </p:sp>
      <p:sp>
        <p:nvSpPr>
          <p:cNvPr id="21" name="Text 19"/>
          <p:cNvSpPr/>
          <p:nvPr/>
        </p:nvSpPr>
        <p:spPr>
          <a:xfrm>
            <a:off x="6446520" y="4114800"/>
            <a:ext cx="640080" cy="640080"/>
          </a:xfrm>
          <a:prstGeom prst="rect">
            <a:avLst/>
          </a:prstGeom>
          <a:noFill/>
          <a:ln/>
        </p:spPr>
        <p:txBody>
          <a:bodyPr wrap="square" rtlCol="0" anchor="ctr"/>
          <a:lstStyle/>
          <a:p>
            <a:pPr algn="ctr" indent="0" marL="0">
              <a:buNone/>
            </a:pPr>
            <a:r>
              <a:rPr lang="en-US" sz="2000" b="1" dirty="0">
                <a:solidFill>
                  <a:srgbClr val="FACC15"/>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178040" y="4114800"/>
            <a:ext cx="4297680" cy="54864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Kinh tế AI tutoring</a:t>
            </a:r>
            <a:endParaRPr lang="en-US" sz="1600" dirty="0"/>
          </a:p>
        </p:txBody>
      </p:sp>
      <p:sp>
        <p:nvSpPr>
          <p:cNvPr id="23" name="Text 21"/>
          <p:cNvSpPr/>
          <p:nvPr/>
        </p:nvSpPr>
        <p:spPr>
          <a:xfrm>
            <a:off x="6446520" y="4846320"/>
            <a:ext cx="4937760" cy="960120"/>
          </a:xfrm>
          <a:prstGeom prst="rect">
            <a:avLst/>
          </a:prstGeom>
          <a:noFill/>
          <a:ln/>
        </p:spPr>
        <p:txBody>
          <a:bodyPr wrap="square" rtlCol="0" anchor="t"/>
          <a:lstStyle/>
          <a:p>
            <a:pPr indent="0" marL="0">
              <a:buNone/>
            </a:pPr>
            <a:r>
              <a:rPr lang="en-US" sz="1200" dirty="0">
                <a:solidFill>
                  <a:srgbClr val="1F2937"/>
                </a:solidFill>
                <a:latin typeface="Calibri" pitchFamily="34" charset="0"/>
                <a:ea typeface="Calibri" pitchFamily="34" charset="-122"/>
                <a:cs typeface="Calibri" pitchFamily="34" charset="-120"/>
              </a:rPr>
              <a:t>AI sinh thành giảm chi phí xác minh kỹ năng ~70%. Không có AI, biên edu của chúng tôi là 35%; có AI, vượt 78%.</a:t>
            </a:r>
            <a:endParaRPr lang="en-US" sz="1200" dirty="0"/>
          </a:p>
        </p:txBody>
      </p:sp>
      <p:sp>
        <p:nvSpPr>
          <p:cNvPr id="24" name="Text 22"/>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25" name="Text 23"/>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11 · ĐỘI NGŨ</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Founder dẫn dắt, tuyển nhanh</a:t>
            </a:r>
            <a:endParaRPr lang="en-US" sz="3000" dirty="0"/>
          </a:p>
        </p:txBody>
      </p:sp>
      <p:sp>
        <p:nvSpPr>
          <p:cNvPr id="4" name="Shape 2"/>
          <p:cNvSpPr/>
          <p:nvPr/>
        </p:nvSpPr>
        <p:spPr>
          <a:xfrm>
            <a:off x="548640" y="1645920"/>
            <a:ext cx="11064240" cy="2286000"/>
          </a:xfrm>
          <a:prstGeom prst="rect">
            <a:avLst/>
          </a:prstGeom>
          <a:solidFill>
            <a:srgbClr val="CADCFC"/>
          </a:solidFill>
          <a:ln/>
        </p:spPr>
      </p:sp>
      <p:sp>
        <p:nvSpPr>
          <p:cNvPr id="5" name="Text 3"/>
          <p:cNvSpPr/>
          <p:nvPr/>
        </p:nvSpPr>
        <p:spPr>
          <a:xfrm>
            <a:off x="822960" y="1783080"/>
            <a:ext cx="10515600" cy="54864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Trần Hà Tâm</a:t>
            </a:r>
            <a:endParaRPr lang="en-US" sz="2200" dirty="0"/>
          </a:p>
        </p:txBody>
      </p:sp>
      <p:sp>
        <p:nvSpPr>
          <p:cNvPr id="6" name="Text 4"/>
          <p:cNvSpPr/>
          <p:nvPr/>
        </p:nvSpPr>
        <p:spPr>
          <a:xfrm>
            <a:off x="822960" y="2331720"/>
            <a:ext cx="10515600" cy="365760"/>
          </a:xfrm>
          <a:prstGeom prst="rect">
            <a:avLst/>
          </a:prstGeom>
          <a:noFill/>
          <a:ln/>
        </p:spPr>
        <p:txBody>
          <a:bodyPr wrap="square" rtlCol="0" anchor="ctr"/>
          <a:lstStyle/>
          <a:p>
            <a:pPr indent="0" marL="0">
              <a:buNone/>
            </a:pPr>
            <a:r>
              <a:rPr lang="en-US" sz="1400" i="1" dirty="0">
                <a:solidFill>
                  <a:srgbClr val="FACC15"/>
                </a:solidFill>
                <a:latin typeface="Calibri" pitchFamily="34" charset="0"/>
                <a:ea typeface="Calibri" pitchFamily="34" charset="-122"/>
                <a:cs typeface="Calibri" pitchFamily="34" charset="-120"/>
              </a:rPr>
              <a:t>Founder &amp; CEO</a:t>
            </a:r>
            <a:endParaRPr lang="en-US" sz="1400" dirty="0"/>
          </a:p>
        </p:txBody>
      </p:sp>
      <p:sp>
        <p:nvSpPr>
          <p:cNvPr id="7" name="Text 5"/>
          <p:cNvSpPr/>
          <p:nvPr/>
        </p:nvSpPr>
        <p:spPr>
          <a:xfrm>
            <a:off x="822960" y="2788920"/>
            <a:ext cx="10515600" cy="1097280"/>
          </a:xfrm>
          <a:prstGeom prst="rect">
            <a:avLst/>
          </a:prstGeom>
          <a:noFill/>
          <a:ln/>
        </p:spPr>
        <p:txBody>
          <a:bodyPr wrap="square" rtlCol="0" anchor="t"/>
          <a:lstStyle/>
          <a:p>
            <a:pPr indent="0" marL="0">
              <a:buNone/>
            </a:pPr>
            <a:r>
              <a:rPr lang="en-US" sz="1300" dirty="0">
                <a:solidFill>
                  <a:srgbClr val="1F2937"/>
                </a:solidFill>
                <a:latin typeface="Calibri" pitchFamily="34" charset="0"/>
                <a:ea typeface="Calibri" pitchFamily="34" charset="-122"/>
                <a:cs typeface="Calibri" pitchFamily="34" charset="-120"/>
              </a:rPr>
              <a:t>Đã ship 96% mã sản xuất giữa tháng 2 và 5/2026, gồm 16 tên miền, 9 runtime libraries, hệ ví, xác minh danh tính, cộng đồng, marketplace việc làm, affiliate tracking, analytics, notifications, và admin CMS — vẫn giữ kỷ luật giọng nói và phủ song ngữ. Gốc Việt, tư duy toàn cầu.</a:t>
            </a:r>
            <a:endParaRPr lang="en-US" sz="1300" dirty="0"/>
          </a:p>
        </p:txBody>
      </p:sp>
      <p:sp>
        <p:nvSpPr>
          <p:cNvPr id="8" name="Text 6"/>
          <p:cNvSpPr/>
          <p:nvPr/>
        </p:nvSpPr>
        <p:spPr>
          <a:xfrm>
            <a:off x="548640" y="4114800"/>
            <a:ext cx="1106424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6 tháng tới — vị trí then chốt tuyển</a:t>
            </a:r>
            <a:endParaRPr lang="en-US" sz="1600" dirty="0"/>
          </a:p>
        </p:txBody>
      </p:sp>
      <p:sp>
        <p:nvSpPr>
          <p:cNvPr id="9" name="Shape 7"/>
          <p:cNvSpPr/>
          <p:nvPr/>
        </p:nvSpPr>
        <p:spPr>
          <a:xfrm>
            <a:off x="548640" y="4572000"/>
            <a:ext cx="3611880" cy="1280160"/>
          </a:xfrm>
          <a:prstGeom prst="rect">
            <a:avLst/>
          </a:prstGeom>
          <a:solidFill>
            <a:srgbClr val="FFFFFF"/>
          </a:solidFill>
          <a:ln w="12700">
            <a:solidFill>
              <a:srgbClr val="1E2761"/>
            </a:solidFill>
            <a:prstDash val="solid"/>
          </a:ln>
        </p:spPr>
      </p:sp>
      <p:sp>
        <p:nvSpPr>
          <p:cNvPr id="10" name="Text 8"/>
          <p:cNvSpPr/>
          <p:nvPr/>
        </p:nvSpPr>
        <p:spPr>
          <a:xfrm>
            <a:off x="731520" y="4709160"/>
            <a:ext cx="329184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CTO / VP Engineering</a:t>
            </a:r>
            <a:endParaRPr lang="en-US" sz="1300" dirty="0"/>
          </a:p>
        </p:txBody>
      </p:sp>
      <p:sp>
        <p:nvSpPr>
          <p:cNvPr id="11" name="Text 9"/>
          <p:cNvSpPr/>
          <p:nvPr/>
        </p:nvSpPr>
        <p:spPr>
          <a:xfrm>
            <a:off x="731520" y="5074920"/>
            <a:ext cx="3291840" cy="731520"/>
          </a:xfrm>
          <a:prstGeom prst="rect">
            <a:avLst/>
          </a:prstGeom>
          <a:noFill/>
          <a:ln/>
        </p:spPr>
        <p:txBody>
          <a:bodyPr wrap="square" rtlCol="0" anchor="t"/>
          <a:lstStyle/>
          <a:p>
            <a:pPr indent="0" marL="0">
              <a:buNone/>
            </a:pPr>
            <a:r>
              <a:rPr lang="en-US" sz="1000" dirty="0">
                <a:solidFill>
                  <a:srgbClr val="1F2937"/>
                </a:solidFill>
                <a:latin typeface="Calibri" pitchFamily="34" charset="0"/>
                <a:ea typeface="Calibri" pitchFamily="34" charset="-122"/>
                <a:cs typeface="Calibri" pitchFamily="34" charset="-120"/>
              </a:rPr>
              <a:t>Senior backend + systems architect; VN hoặc remote</a:t>
            </a:r>
            <a:endParaRPr lang="en-US" sz="1000" dirty="0"/>
          </a:p>
        </p:txBody>
      </p:sp>
      <p:sp>
        <p:nvSpPr>
          <p:cNvPr id="12" name="Shape 10"/>
          <p:cNvSpPr/>
          <p:nvPr/>
        </p:nvSpPr>
        <p:spPr>
          <a:xfrm>
            <a:off x="4343400" y="4572000"/>
            <a:ext cx="3611880" cy="1280160"/>
          </a:xfrm>
          <a:prstGeom prst="rect">
            <a:avLst/>
          </a:prstGeom>
          <a:solidFill>
            <a:srgbClr val="FFFFFF"/>
          </a:solidFill>
          <a:ln w="12700">
            <a:solidFill>
              <a:srgbClr val="1E2761"/>
            </a:solidFill>
            <a:prstDash val="solid"/>
          </a:ln>
        </p:spPr>
      </p:sp>
      <p:sp>
        <p:nvSpPr>
          <p:cNvPr id="13" name="Text 11"/>
          <p:cNvSpPr/>
          <p:nvPr/>
        </p:nvSpPr>
        <p:spPr>
          <a:xfrm>
            <a:off x="4526280" y="4709160"/>
            <a:ext cx="329184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VP Growth</a:t>
            </a:r>
            <a:endParaRPr lang="en-US" sz="1300" dirty="0"/>
          </a:p>
        </p:txBody>
      </p:sp>
      <p:sp>
        <p:nvSpPr>
          <p:cNvPr id="14" name="Text 12"/>
          <p:cNvSpPr/>
          <p:nvPr/>
        </p:nvSpPr>
        <p:spPr>
          <a:xfrm>
            <a:off x="4526280" y="5074920"/>
            <a:ext cx="3291840" cy="731520"/>
          </a:xfrm>
          <a:prstGeom prst="rect">
            <a:avLst/>
          </a:prstGeom>
          <a:noFill/>
          <a:ln/>
        </p:spPr>
        <p:txBody>
          <a:bodyPr wrap="square" rtlCol="0" anchor="t"/>
          <a:lstStyle/>
          <a:p>
            <a:pPr indent="0" marL="0">
              <a:buNone/>
            </a:pPr>
            <a:r>
              <a:rPr lang="en-US" sz="1000" dirty="0">
                <a:solidFill>
                  <a:srgbClr val="1F2937"/>
                </a:solidFill>
                <a:latin typeface="Calibri" pitchFamily="34" charset="0"/>
                <a:ea typeface="Calibri" pitchFamily="34" charset="-122"/>
                <a:cs typeface="Calibri" pitchFamily="34" charset="-120"/>
              </a:rPr>
              <a:t>Performance marketing VN + kiều bào; đối tác B2B</a:t>
            </a:r>
            <a:endParaRPr lang="en-US" sz="1000" dirty="0"/>
          </a:p>
        </p:txBody>
      </p:sp>
      <p:sp>
        <p:nvSpPr>
          <p:cNvPr id="15" name="Shape 13"/>
          <p:cNvSpPr/>
          <p:nvPr/>
        </p:nvSpPr>
        <p:spPr>
          <a:xfrm>
            <a:off x="8138160" y="4572000"/>
            <a:ext cx="3611880" cy="1280160"/>
          </a:xfrm>
          <a:prstGeom prst="rect">
            <a:avLst/>
          </a:prstGeom>
          <a:solidFill>
            <a:srgbClr val="FFFFFF"/>
          </a:solidFill>
          <a:ln w="12700">
            <a:solidFill>
              <a:srgbClr val="1E2761"/>
            </a:solidFill>
            <a:prstDash val="solid"/>
          </a:ln>
        </p:spPr>
      </p:sp>
      <p:sp>
        <p:nvSpPr>
          <p:cNvPr id="16" name="Text 14"/>
          <p:cNvSpPr/>
          <p:nvPr/>
        </p:nvSpPr>
        <p:spPr>
          <a:xfrm>
            <a:off x="8321040" y="4709160"/>
            <a:ext cx="329184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Head of Compliance</a:t>
            </a:r>
            <a:endParaRPr lang="en-US" sz="1300" dirty="0"/>
          </a:p>
        </p:txBody>
      </p:sp>
      <p:sp>
        <p:nvSpPr>
          <p:cNvPr id="17" name="Text 15"/>
          <p:cNvSpPr/>
          <p:nvPr/>
        </p:nvSpPr>
        <p:spPr>
          <a:xfrm>
            <a:off x="8321040" y="5074920"/>
            <a:ext cx="3291840" cy="731520"/>
          </a:xfrm>
          <a:prstGeom prst="rect">
            <a:avLst/>
          </a:prstGeom>
          <a:noFill/>
          <a:ln/>
        </p:spPr>
        <p:txBody>
          <a:bodyPr wrap="square" rtlCol="0" anchor="t"/>
          <a:lstStyle/>
          <a:p>
            <a:pPr indent="0" marL="0">
              <a:buNone/>
            </a:pPr>
            <a:r>
              <a:rPr lang="en-US" sz="1000" dirty="0">
                <a:solidFill>
                  <a:srgbClr val="1F2937"/>
                </a:solidFill>
                <a:latin typeface="Calibri" pitchFamily="34" charset="0"/>
                <a:ea typeface="Calibri" pitchFamily="34" charset="-122"/>
                <a:cs typeface="Calibri" pitchFamily="34" charset="-120"/>
              </a:rPr>
              <a:t>Quy định fintech VN, SOC 2, GDPR, quản lý KYC vendor</a:t>
            </a:r>
            <a:endParaRPr lang="en-US" sz="1000" dirty="0"/>
          </a:p>
        </p:txBody>
      </p:sp>
      <p:sp>
        <p:nvSpPr>
          <p:cNvPr id="18" name="Text 16"/>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19" name="Text 17"/>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12 · KÊU GỌI</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Series Seed: 3 triệu USD</a:t>
            </a:r>
            <a:endParaRPr lang="en-US" sz="3000" dirty="0"/>
          </a:p>
        </p:txBody>
      </p:sp>
      <p:sp>
        <p:nvSpPr>
          <p:cNvPr id="4" name="Text 2"/>
          <p:cNvSpPr/>
          <p:nvPr/>
        </p:nvSpPr>
        <p:spPr>
          <a:xfrm>
            <a:off x="548640" y="1554480"/>
            <a:ext cx="10972800" cy="64008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Gọi vốn 3 triệu USD ở định giá post-money 11 triệu USD</a:t>
            </a:r>
            <a:endParaRPr lang="en-US" sz="2800" dirty="0"/>
          </a:p>
        </p:txBody>
      </p:sp>
      <p:sp>
        <p:nvSpPr>
          <p:cNvPr id="5" name="Text 3"/>
          <p:cNvSpPr/>
          <p:nvPr/>
        </p:nvSpPr>
        <p:spPr>
          <a:xfrm>
            <a:off x="548640" y="2194560"/>
            <a:ext cx="10972800" cy="365760"/>
          </a:xfrm>
          <a:prstGeom prst="rect">
            <a:avLst/>
          </a:prstGeom>
          <a:noFill/>
          <a:ln/>
        </p:spPr>
        <p:txBody>
          <a:bodyPr wrap="square"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SAFE chuẩn hoặc convertible note; mục tiêu runway 24 tháng</a:t>
            </a:r>
            <a:endParaRPr lang="en-US" sz="1400" dirty="0"/>
          </a:p>
        </p:txBody>
      </p:sp>
      <p:sp>
        <p:nvSpPr>
          <p:cNvPr id="6" name="Shape 4"/>
          <p:cNvSpPr/>
          <p:nvPr/>
        </p:nvSpPr>
        <p:spPr>
          <a:xfrm>
            <a:off x="548640" y="2926080"/>
            <a:ext cx="7315200" cy="502920"/>
          </a:xfrm>
          <a:prstGeom prst="rect">
            <a:avLst/>
          </a:prstGeom>
          <a:solidFill>
            <a:srgbClr val="CADCFC"/>
          </a:solidFill>
          <a:ln/>
        </p:spPr>
      </p:sp>
      <p:sp>
        <p:nvSpPr>
          <p:cNvPr id="7" name="Shape 5"/>
          <p:cNvSpPr/>
          <p:nvPr/>
        </p:nvSpPr>
        <p:spPr>
          <a:xfrm>
            <a:off x="548640" y="2926080"/>
            <a:ext cx="2926080" cy="502920"/>
          </a:xfrm>
          <a:prstGeom prst="rect">
            <a:avLst/>
          </a:prstGeom>
          <a:solidFill>
            <a:srgbClr val="1E2761"/>
          </a:solidFill>
          <a:ln/>
        </p:spPr>
      </p:sp>
      <p:sp>
        <p:nvSpPr>
          <p:cNvPr id="8" name="Text 6"/>
          <p:cNvSpPr/>
          <p:nvPr/>
        </p:nvSpPr>
        <p:spPr>
          <a:xfrm>
            <a:off x="640080" y="2926080"/>
            <a:ext cx="914400" cy="502920"/>
          </a:xfrm>
          <a:prstGeom prst="rect">
            <a:avLst/>
          </a:prstGeom>
          <a:noFill/>
          <a:ln/>
        </p:spPr>
        <p:txBody>
          <a:bodyPr wrap="square" rtlCol="0" anchor="ctr"/>
          <a:lstStyle/>
          <a:p>
            <a:pPr indent="0" marL="0">
              <a:buNone/>
            </a:pPr>
            <a:r>
              <a:rPr lang="en-US" sz="1300" b="1" dirty="0">
                <a:solidFill>
                  <a:srgbClr val="FACC15"/>
                </a:solidFill>
                <a:latin typeface="Calibri" pitchFamily="34" charset="0"/>
                <a:ea typeface="Calibri" pitchFamily="34" charset="-122"/>
                <a:cs typeface="Calibri" pitchFamily="34" charset="-120"/>
              </a:rPr>
              <a:t>40%</a:t>
            </a:r>
            <a:endParaRPr lang="en-US" sz="1300" dirty="0"/>
          </a:p>
        </p:txBody>
      </p:sp>
      <p:sp>
        <p:nvSpPr>
          <p:cNvPr id="9" name="Text 7"/>
          <p:cNvSpPr/>
          <p:nvPr/>
        </p:nvSpPr>
        <p:spPr>
          <a:xfrm>
            <a:off x="1645920" y="2926080"/>
            <a:ext cx="59436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Nhân sự (engineers, security, AI/ML, design, ops)</a:t>
            </a:r>
            <a:endParaRPr lang="en-US" sz="1200" dirty="0"/>
          </a:p>
        </p:txBody>
      </p:sp>
      <p:sp>
        <p:nvSpPr>
          <p:cNvPr id="10" name="Text 8"/>
          <p:cNvSpPr/>
          <p:nvPr/>
        </p:nvSpPr>
        <p:spPr>
          <a:xfrm>
            <a:off x="8046720" y="2926080"/>
            <a:ext cx="3657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$1.2M</a:t>
            </a:r>
            <a:endParaRPr lang="en-US" sz="1300" dirty="0"/>
          </a:p>
        </p:txBody>
      </p:sp>
      <p:sp>
        <p:nvSpPr>
          <p:cNvPr id="11" name="Shape 9"/>
          <p:cNvSpPr/>
          <p:nvPr/>
        </p:nvSpPr>
        <p:spPr>
          <a:xfrm>
            <a:off x="548640" y="3520440"/>
            <a:ext cx="7315200" cy="502920"/>
          </a:xfrm>
          <a:prstGeom prst="rect">
            <a:avLst/>
          </a:prstGeom>
          <a:solidFill>
            <a:srgbClr val="CADCFC"/>
          </a:solidFill>
          <a:ln/>
        </p:spPr>
      </p:sp>
      <p:sp>
        <p:nvSpPr>
          <p:cNvPr id="12" name="Shape 10"/>
          <p:cNvSpPr/>
          <p:nvPr/>
        </p:nvSpPr>
        <p:spPr>
          <a:xfrm>
            <a:off x="548640" y="3520440"/>
            <a:ext cx="2194560" cy="502920"/>
          </a:xfrm>
          <a:prstGeom prst="rect">
            <a:avLst/>
          </a:prstGeom>
          <a:solidFill>
            <a:srgbClr val="1E2761"/>
          </a:solidFill>
          <a:ln/>
        </p:spPr>
      </p:sp>
      <p:sp>
        <p:nvSpPr>
          <p:cNvPr id="13" name="Text 11"/>
          <p:cNvSpPr/>
          <p:nvPr/>
        </p:nvSpPr>
        <p:spPr>
          <a:xfrm>
            <a:off x="640080" y="3520440"/>
            <a:ext cx="914400" cy="502920"/>
          </a:xfrm>
          <a:prstGeom prst="rect">
            <a:avLst/>
          </a:prstGeom>
          <a:noFill/>
          <a:ln/>
        </p:spPr>
        <p:txBody>
          <a:bodyPr wrap="square" rtlCol="0" anchor="ctr"/>
          <a:lstStyle/>
          <a:p>
            <a:pPr indent="0" marL="0">
              <a:buNone/>
            </a:pPr>
            <a:r>
              <a:rPr lang="en-US" sz="1300" b="1" dirty="0">
                <a:solidFill>
                  <a:srgbClr val="FACC15"/>
                </a:solidFill>
                <a:latin typeface="Calibri" pitchFamily="34" charset="0"/>
                <a:ea typeface="Calibri" pitchFamily="34" charset="-122"/>
                <a:cs typeface="Calibri" pitchFamily="34" charset="-120"/>
              </a:rPr>
              <a:t>30%</a:t>
            </a:r>
            <a:endParaRPr lang="en-US" sz="1300" dirty="0"/>
          </a:p>
        </p:txBody>
      </p:sp>
      <p:sp>
        <p:nvSpPr>
          <p:cNvPr id="14" name="Text 12"/>
          <p:cNvSpPr/>
          <p:nvPr/>
        </p:nvSpPr>
        <p:spPr>
          <a:xfrm>
            <a:off x="1645920" y="3520440"/>
            <a:ext cx="59436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Thu hút khách hàng (performance, đối tác, content)</a:t>
            </a:r>
            <a:endParaRPr lang="en-US" sz="1200" dirty="0"/>
          </a:p>
        </p:txBody>
      </p:sp>
      <p:sp>
        <p:nvSpPr>
          <p:cNvPr id="15" name="Text 13"/>
          <p:cNvSpPr/>
          <p:nvPr/>
        </p:nvSpPr>
        <p:spPr>
          <a:xfrm>
            <a:off x="8046720" y="3520440"/>
            <a:ext cx="3657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$0.9M</a:t>
            </a:r>
            <a:endParaRPr lang="en-US" sz="1300" dirty="0"/>
          </a:p>
        </p:txBody>
      </p:sp>
      <p:sp>
        <p:nvSpPr>
          <p:cNvPr id="16" name="Shape 14"/>
          <p:cNvSpPr/>
          <p:nvPr/>
        </p:nvSpPr>
        <p:spPr>
          <a:xfrm>
            <a:off x="548640" y="4114800"/>
            <a:ext cx="7315200" cy="502920"/>
          </a:xfrm>
          <a:prstGeom prst="rect">
            <a:avLst/>
          </a:prstGeom>
          <a:solidFill>
            <a:srgbClr val="CADCFC"/>
          </a:solidFill>
          <a:ln/>
        </p:spPr>
      </p:sp>
      <p:sp>
        <p:nvSpPr>
          <p:cNvPr id="17" name="Shape 15"/>
          <p:cNvSpPr/>
          <p:nvPr/>
        </p:nvSpPr>
        <p:spPr>
          <a:xfrm>
            <a:off x="548640" y="4114800"/>
            <a:ext cx="1097280" cy="502920"/>
          </a:xfrm>
          <a:prstGeom prst="rect">
            <a:avLst/>
          </a:prstGeom>
          <a:solidFill>
            <a:srgbClr val="1E2761"/>
          </a:solidFill>
          <a:ln/>
        </p:spPr>
      </p:sp>
      <p:sp>
        <p:nvSpPr>
          <p:cNvPr id="18" name="Text 16"/>
          <p:cNvSpPr/>
          <p:nvPr/>
        </p:nvSpPr>
        <p:spPr>
          <a:xfrm>
            <a:off x="640080" y="4114800"/>
            <a:ext cx="914400" cy="502920"/>
          </a:xfrm>
          <a:prstGeom prst="rect">
            <a:avLst/>
          </a:prstGeom>
          <a:noFill/>
          <a:ln/>
        </p:spPr>
        <p:txBody>
          <a:bodyPr wrap="square" rtlCol="0" anchor="ctr"/>
          <a:lstStyle/>
          <a:p>
            <a:pPr indent="0" marL="0">
              <a:buNone/>
            </a:pPr>
            <a:r>
              <a:rPr lang="en-US" sz="1300" b="1" dirty="0">
                <a:solidFill>
                  <a:srgbClr val="FACC15"/>
                </a:solidFill>
                <a:latin typeface="Calibri" pitchFamily="34" charset="0"/>
                <a:ea typeface="Calibri" pitchFamily="34" charset="-122"/>
                <a:cs typeface="Calibri" pitchFamily="34" charset="-120"/>
              </a:rPr>
              <a:t>15%</a:t>
            </a:r>
            <a:endParaRPr lang="en-US" sz="1300" dirty="0"/>
          </a:p>
        </p:txBody>
      </p:sp>
      <p:sp>
        <p:nvSpPr>
          <p:cNvPr id="19" name="Text 17"/>
          <p:cNvSpPr/>
          <p:nvPr/>
        </p:nvSpPr>
        <p:spPr>
          <a:xfrm>
            <a:off x="1645920" y="4114800"/>
            <a:ext cx="59436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Tuân thủ &amp; giấy phép (KYC, fintech, pháp lý)</a:t>
            </a:r>
            <a:endParaRPr lang="en-US" sz="1200" dirty="0"/>
          </a:p>
        </p:txBody>
      </p:sp>
      <p:sp>
        <p:nvSpPr>
          <p:cNvPr id="20" name="Text 18"/>
          <p:cNvSpPr/>
          <p:nvPr/>
        </p:nvSpPr>
        <p:spPr>
          <a:xfrm>
            <a:off x="8046720" y="4114800"/>
            <a:ext cx="3657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$0.45M</a:t>
            </a:r>
            <a:endParaRPr lang="en-US" sz="1300" dirty="0"/>
          </a:p>
        </p:txBody>
      </p:sp>
      <p:sp>
        <p:nvSpPr>
          <p:cNvPr id="21" name="Shape 19"/>
          <p:cNvSpPr/>
          <p:nvPr/>
        </p:nvSpPr>
        <p:spPr>
          <a:xfrm>
            <a:off x="548640" y="4709160"/>
            <a:ext cx="7315200" cy="502920"/>
          </a:xfrm>
          <a:prstGeom prst="rect">
            <a:avLst/>
          </a:prstGeom>
          <a:solidFill>
            <a:srgbClr val="CADCFC"/>
          </a:solidFill>
          <a:ln/>
        </p:spPr>
      </p:sp>
      <p:sp>
        <p:nvSpPr>
          <p:cNvPr id="22" name="Shape 20"/>
          <p:cNvSpPr/>
          <p:nvPr/>
        </p:nvSpPr>
        <p:spPr>
          <a:xfrm>
            <a:off x="548640" y="4709160"/>
            <a:ext cx="731520" cy="502920"/>
          </a:xfrm>
          <a:prstGeom prst="rect">
            <a:avLst/>
          </a:prstGeom>
          <a:solidFill>
            <a:srgbClr val="1E2761"/>
          </a:solidFill>
          <a:ln/>
        </p:spPr>
      </p:sp>
      <p:sp>
        <p:nvSpPr>
          <p:cNvPr id="23" name="Text 21"/>
          <p:cNvSpPr/>
          <p:nvPr/>
        </p:nvSpPr>
        <p:spPr>
          <a:xfrm>
            <a:off x="640080" y="4709160"/>
            <a:ext cx="914400" cy="502920"/>
          </a:xfrm>
          <a:prstGeom prst="rect">
            <a:avLst/>
          </a:prstGeom>
          <a:noFill/>
          <a:ln/>
        </p:spPr>
        <p:txBody>
          <a:bodyPr wrap="square" rtlCol="0" anchor="ctr"/>
          <a:lstStyle/>
          <a:p>
            <a:pPr indent="0" marL="0">
              <a:buNone/>
            </a:pPr>
            <a:r>
              <a:rPr lang="en-US" sz="1300" b="1" dirty="0">
                <a:solidFill>
                  <a:srgbClr val="FACC15"/>
                </a:solidFill>
                <a:latin typeface="Calibri" pitchFamily="34" charset="0"/>
                <a:ea typeface="Calibri" pitchFamily="34" charset="-122"/>
                <a:cs typeface="Calibri" pitchFamily="34" charset="-120"/>
              </a:rPr>
              <a:t>10%</a:t>
            </a:r>
            <a:endParaRPr lang="en-US" sz="1300" dirty="0"/>
          </a:p>
        </p:txBody>
      </p:sp>
      <p:sp>
        <p:nvSpPr>
          <p:cNvPr id="24" name="Text 22"/>
          <p:cNvSpPr/>
          <p:nvPr/>
        </p:nvSpPr>
        <p:spPr>
          <a:xfrm>
            <a:off x="1645920" y="4709160"/>
            <a:ext cx="59436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Hạ tầng &amp; bảo mật (Cloudflare, monitoring, SOC 2)</a:t>
            </a:r>
            <a:endParaRPr lang="en-US" sz="1200" dirty="0"/>
          </a:p>
        </p:txBody>
      </p:sp>
      <p:sp>
        <p:nvSpPr>
          <p:cNvPr id="25" name="Text 23"/>
          <p:cNvSpPr/>
          <p:nvPr/>
        </p:nvSpPr>
        <p:spPr>
          <a:xfrm>
            <a:off x="8046720" y="4709160"/>
            <a:ext cx="3657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$0.3M</a:t>
            </a:r>
            <a:endParaRPr lang="en-US" sz="1300" dirty="0"/>
          </a:p>
        </p:txBody>
      </p:sp>
      <p:sp>
        <p:nvSpPr>
          <p:cNvPr id="26" name="Shape 24"/>
          <p:cNvSpPr/>
          <p:nvPr/>
        </p:nvSpPr>
        <p:spPr>
          <a:xfrm>
            <a:off x="548640" y="5303520"/>
            <a:ext cx="7315200" cy="502920"/>
          </a:xfrm>
          <a:prstGeom prst="rect">
            <a:avLst/>
          </a:prstGeom>
          <a:solidFill>
            <a:srgbClr val="CADCFC"/>
          </a:solidFill>
          <a:ln/>
        </p:spPr>
      </p:sp>
      <p:sp>
        <p:nvSpPr>
          <p:cNvPr id="27" name="Shape 25"/>
          <p:cNvSpPr/>
          <p:nvPr/>
        </p:nvSpPr>
        <p:spPr>
          <a:xfrm>
            <a:off x="548640" y="5303520"/>
            <a:ext cx="365760" cy="502920"/>
          </a:xfrm>
          <a:prstGeom prst="rect">
            <a:avLst/>
          </a:prstGeom>
          <a:solidFill>
            <a:srgbClr val="1E2761"/>
          </a:solidFill>
          <a:ln/>
        </p:spPr>
      </p:sp>
      <p:sp>
        <p:nvSpPr>
          <p:cNvPr id="28" name="Text 26"/>
          <p:cNvSpPr/>
          <p:nvPr/>
        </p:nvSpPr>
        <p:spPr>
          <a:xfrm>
            <a:off x="640080" y="5303520"/>
            <a:ext cx="914400" cy="502920"/>
          </a:xfrm>
          <a:prstGeom prst="rect">
            <a:avLst/>
          </a:prstGeom>
          <a:noFill/>
          <a:ln/>
        </p:spPr>
        <p:txBody>
          <a:bodyPr wrap="square" rtlCol="0" anchor="ctr"/>
          <a:lstStyle/>
          <a:p>
            <a:pPr indent="0" marL="0">
              <a:buNone/>
            </a:pPr>
            <a:r>
              <a:rPr lang="en-US" sz="1300" b="1" dirty="0">
                <a:solidFill>
                  <a:srgbClr val="FACC15"/>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1645920" y="5303520"/>
            <a:ext cx="59436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Vốn lưu động</a:t>
            </a:r>
            <a:endParaRPr lang="en-US" sz="1200" dirty="0"/>
          </a:p>
        </p:txBody>
      </p:sp>
      <p:sp>
        <p:nvSpPr>
          <p:cNvPr id="30" name="Text 28"/>
          <p:cNvSpPr/>
          <p:nvPr/>
        </p:nvSpPr>
        <p:spPr>
          <a:xfrm>
            <a:off x="8046720" y="5303520"/>
            <a:ext cx="3657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$0.15M</a:t>
            </a:r>
            <a:endParaRPr lang="en-US" sz="1300" dirty="0"/>
          </a:p>
        </p:txBody>
      </p:sp>
      <p:sp>
        <p:nvSpPr>
          <p:cNvPr id="31" name="Text 29"/>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32" name="Text 30"/>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13 · ROADMAP</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Từ kích hoạt đến mở rộng toàn cầu</a:t>
            </a:r>
            <a:endParaRPr lang="en-US" sz="3000" dirty="0"/>
          </a:p>
        </p:txBody>
      </p:sp>
      <p:sp>
        <p:nvSpPr>
          <p:cNvPr id="4" name="Shape 2"/>
          <p:cNvSpPr/>
          <p:nvPr/>
        </p:nvSpPr>
        <p:spPr>
          <a:xfrm>
            <a:off x="548640" y="1645920"/>
            <a:ext cx="3611880" cy="640080"/>
          </a:xfrm>
          <a:prstGeom prst="rect">
            <a:avLst/>
          </a:prstGeom>
          <a:solidFill>
            <a:srgbClr val="1E2761"/>
          </a:solidFill>
          <a:ln/>
        </p:spPr>
      </p:sp>
      <p:sp>
        <p:nvSpPr>
          <p:cNvPr id="5" name="Text 3"/>
          <p:cNvSpPr/>
          <p:nvPr/>
        </p:nvSpPr>
        <p:spPr>
          <a:xfrm>
            <a:off x="731520" y="1691640"/>
            <a:ext cx="3200400" cy="548640"/>
          </a:xfrm>
          <a:prstGeom prst="rect">
            <a:avLst/>
          </a:prstGeom>
          <a:noFill/>
          <a:ln/>
        </p:spPr>
        <p:txBody>
          <a:bodyPr wrap="square" rtlCol="0" anchor="ctr"/>
          <a:lstStyle/>
          <a:p>
            <a:pPr indent="0" marL="0">
              <a:buNone/>
            </a:pPr>
            <a:r>
              <a:rPr lang="en-US" sz="1600" b="1" dirty="0">
                <a:solidFill>
                  <a:srgbClr val="FACC15"/>
                </a:solidFill>
                <a:latin typeface="Calibri" pitchFamily="34" charset="0"/>
                <a:ea typeface="Calibri" pitchFamily="34" charset="-122"/>
                <a:cs typeface="Calibri" pitchFamily="34" charset="-120"/>
              </a:rPr>
              <a:t>Giai đoạn 1</a:t>
            </a:r>
            <a:endParaRPr lang="en-US" sz="1600" dirty="0"/>
          </a:p>
        </p:txBody>
      </p:sp>
      <p:sp>
        <p:nvSpPr>
          <p:cNvPr id="6" name="Shape 4"/>
          <p:cNvSpPr/>
          <p:nvPr/>
        </p:nvSpPr>
        <p:spPr>
          <a:xfrm>
            <a:off x="548640" y="2286000"/>
            <a:ext cx="3611880" cy="457200"/>
          </a:xfrm>
          <a:prstGeom prst="rect">
            <a:avLst/>
          </a:prstGeom>
          <a:solidFill>
            <a:srgbClr val="CADCFC"/>
          </a:solidFill>
          <a:ln/>
        </p:spPr>
      </p:sp>
      <p:sp>
        <p:nvSpPr>
          <p:cNvPr id="7" name="Text 5"/>
          <p:cNvSpPr/>
          <p:nvPr/>
        </p:nvSpPr>
        <p:spPr>
          <a:xfrm>
            <a:off x="731520" y="2286000"/>
            <a:ext cx="3200400" cy="45720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Tháng 0-6 · Kích hoạt</a:t>
            </a:r>
            <a:endParaRPr lang="en-US" sz="1100" dirty="0"/>
          </a:p>
        </p:txBody>
      </p:sp>
      <p:sp>
        <p:nvSpPr>
          <p:cNvPr id="8" name="Text 6"/>
          <p:cNvSpPr/>
          <p:nvPr/>
        </p:nvSpPr>
        <p:spPr>
          <a:xfrm>
            <a:off x="685800" y="2880360"/>
            <a:ext cx="338328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Founder unlock secrets live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Email + thanh toán live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Soft launch tới network</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Pilot với 3 đại học</a:t>
            </a:r>
            <a:endParaRPr lang="en-US" sz="1100" dirty="0"/>
          </a:p>
        </p:txBody>
      </p:sp>
      <p:sp>
        <p:nvSpPr>
          <p:cNvPr id="9" name="Text 7"/>
          <p:cNvSpPr/>
          <p:nvPr/>
        </p:nvSpPr>
        <p:spPr>
          <a:xfrm>
            <a:off x="548640" y="5715000"/>
            <a:ext cx="3611880" cy="45720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Mục tiêu: 1,500 thành viên trả phí</a:t>
            </a:r>
            <a:endParaRPr lang="en-US" sz="1200" dirty="0"/>
          </a:p>
        </p:txBody>
      </p:sp>
      <p:sp>
        <p:nvSpPr>
          <p:cNvPr id="10" name="Shape 8"/>
          <p:cNvSpPr/>
          <p:nvPr/>
        </p:nvSpPr>
        <p:spPr>
          <a:xfrm>
            <a:off x="4343400" y="1645920"/>
            <a:ext cx="3611880" cy="640080"/>
          </a:xfrm>
          <a:prstGeom prst="rect">
            <a:avLst/>
          </a:prstGeom>
          <a:solidFill>
            <a:srgbClr val="1E2761"/>
          </a:solidFill>
          <a:ln/>
        </p:spPr>
      </p:sp>
      <p:sp>
        <p:nvSpPr>
          <p:cNvPr id="11" name="Text 9"/>
          <p:cNvSpPr/>
          <p:nvPr/>
        </p:nvSpPr>
        <p:spPr>
          <a:xfrm>
            <a:off x="4526280" y="1691640"/>
            <a:ext cx="3200400" cy="548640"/>
          </a:xfrm>
          <a:prstGeom prst="rect">
            <a:avLst/>
          </a:prstGeom>
          <a:noFill/>
          <a:ln/>
        </p:spPr>
        <p:txBody>
          <a:bodyPr wrap="square" rtlCol="0" anchor="ctr"/>
          <a:lstStyle/>
          <a:p>
            <a:pPr indent="0" marL="0">
              <a:buNone/>
            </a:pPr>
            <a:r>
              <a:rPr lang="en-US" sz="1600" b="1" dirty="0">
                <a:solidFill>
                  <a:srgbClr val="FACC15"/>
                </a:solidFill>
                <a:latin typeface="Calibri" pitchFamily="34" charset="0"/>
                <a:ea typeface="Calibri" pitchFamily="34" charset="-122"/>
                <a:cs typeface="Calibri" pitchFamily="34" charset="-120"/>
              </a:rPr>
              <a:t>Giai đoạn 2</a:t>
            </a:r>
            <a:endParaRPr lang="en-US" sz="1600" dirty="0"/>
          </a:p>
        </p:txBody>
      </p:sp>
      <p:sp>
        <p:nvSpPr>
          <p:cNvPr id="12" name="Shape 10"/>
          <p:cNvSpPr/>
          <p:nvPr/>
        </p:nvSpPr>
        <p:spPr>
          <a:xfrm>
            <a:off x="4343400" y="2286000"/>
            <a:ext cx="3611880" cy="457200"/>
          </a:xfrm>
          <a:prstGeom prst="rect">
            <a:avLst/>
          </a:prstGeom>
          <a:solidFill>
            <a:srgbClr val="CADCFC"/>
          </a:solidFill>
          <a:ln/>
        </p:spPr>
      </p:sp>
      <p:sp>
        <p:nvSpPr>
          <p:cNvPr id="13" name="Text 11"/>
          <p:cNvSpPr/>
          <p:nvPr/>
        </p:nvSpPr>
        <p:spPr>
          <a:xfrm>
            <a:off x="4526280" y="2286000"/>
            <a:ext cx="3200400" cy="45720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Tháng 6-12 · Scale</a:t>
            </a:r>
            <a:endParaRPr lang="en-US" sz="1100" dirty="0"/>
          </a:p>
        </p:txBody>
      </p:sp>
      <p:sp>
        <p:nvSpPr>
          <p:cNvPr id="14" name="Text 12"/>
          <p:cNvSpPr/>
          <p:nvPr/>
        </p:nvSpPr>
        <p:spPr>
          <a:xfrm>
            <a:off x="4480560" y="2880360"/>
            <a:ext cx="338328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Performance marketing live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Pilot đối tác B2B × 5</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KYC vendor live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Mở khoá payout ví</a:t>
            </a:r>
            <a:endParaRPr lang="en-US" sz="1100" dirty="0"/>
          </a:p>
        </p:txBody>
      </p:sp>
      <p:sp>
        <p:nvSpPr>
          <p:cNvPr id="15" name="Text 13"/>
          <p:cNvSpPr/>
          <p:nvPr/>
        </p:nvSpPr>
        <p:spPr>
          <a:xfrm>
            <a:off x="4343400" y="5715000"/>
            <a:ext cx="3611880" cy="45720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Mục tiêu: 12K trả phí + $800K ARR</a:t>
            </a:r>
            <a:endParaRPr lang="en-US" sz="1200" dirty="0"/>
          </a:p>
        </p:txBody>
      </p:sp>
      <p:sp>
        <p:nvSpPr>
          <p:cNvPr id="16" name="Shape 14"/>
          <p:cNvSpPr/>
          <p:nvPr/>
        </p:nvSpPr>
        <p:spPr>
          <a:xfrm>
            <a:off x="8138160" y="1645920"/>
            <a:ext cx="3611880" cy="640080"/>
          </a:xfrm>
          <a:prstGeom prst="rect">
            <a:avLst/>
          </a:prstGeom>
          <a:solidFill>
            <a:srgbClr val="1E2761"/>
          </a:solidFill>
          <a:ln/>
        </p:spPr>
      </p:sp>
      <p:sp>
        <p:nvSpPr>
          <p:cNvPr id="17" name="Text 15"/>
          <p:cNvSpPr/>
          <p:nvPr/>
        </p:nvSpPr>
        <p:spPr>
          <a:xfrm>
            <a:off x="8321040" y="1691640"/>
            <a:ext cx="3200400" cy="548640"/>
          </a:xfrm>
          <a:prstGeom prst="rect">
            <a:avLst/>
          </a:prstGeom>
          <a:noFill/>
          <a:ln/>
        </p:spPr>
        <p:txBody>
          <a:bodyPr wrap="square" rtlCol="0" anchor="ctr"/>
          <a:lstStyle/>
          <a:p>
            <a:pPr indent="0" marL="0">
              <a:buNone/>
            </a:pPr>
            <a:r>
              <a:rPr lang="en-US" sz="1600" b="1" dirty="0">
                <a:solidFill>
                  <a:srgbClr val="FACC15"/>
                </a:solidFill>
                <a:latin typeface="Calibri" pitchFamily="34" charset="0"/>
                <a:ea typeface="Calibri" pitchFamily="34" charset="-122"/>
                <a:cs typeface="Calibri" pitchFamily="34" charset="-120"/>
              </a:rPr>
              <a:t>Giai đoạn 3</a:t>
            </a:r>
            <a:endParaRPr lang="en-US" sz="1600" dirty="0"/>
          </a:p>
        </p:txBody>
      </p:sp>
      <p:sp>
        <p:nvSpPr>
          <p:cNvPr id="18" name="Shape 16"/>
          <p:cNvSpPr/>
          <p:nvPr/>
        </p:nvSpPr>
        <p:spPr>
          <a:xfrm>
            <a:off x="8138160" y="2286000"/>
            <a:ext cx="3611880" cy="457200"/>
          </a:xfrm>
          <a:prstGeom prst="rect">
            <a:avLst/>
          </a:prstGeom>
          <a:solidFill>
            <a:srgbClr val="CADCFC"/>
          </a:solidFill>
          <a:ln/>
        </p:spPr>
      </p:sp>
      <p:sp>
        <p:nvSpPr>
          <p:cNvPr id="19" name="Text 17"/>
          <p:cNvSpPr/>
          <p:nvPr/>
        </p:nvSpPr>
        <p:spPr>
          <a:xfrm>
            <a:off x="8321040" y="2286000"/>
            <a:ext cx="3200400" cy="45720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Tháng 12-24 · Khu vực</a:t>
            </a:r>
            <a:endParaRPr lang="en-US" sz="1100" dirty="0"/>
          </a:p>
        </p:txBody>
      </p:sp>
      <p:sp>
        <p:nvSpPr>
          <p:cNvPr id="20" name="Text 18"/>
          <p:cNvSpPr/>
          <p:nvPr/>
        </p:nvSpPr>
        <p:spPr>
          <a:xfrm>
            <a:off x="8275320" y="2880360"/>
            <a:ext cx="338328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Kích hoạt kiều bào tiếng Anh</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Đường ray thanh toán SEA</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License B2B VC đầu tiên</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Chuẩn bị Series A</a:t>
            </a:r>
            <a:endParaRPr lang="en-US" sz="1100" dirty="0"/>
          </a:p>
        </p:txBody>
      </p:sp>
      <p:sp>
        <p:nvSpPr>
          <p:cNvPr id="21" name="Text 19"/>
          <p:cNvSpPr/>
          <p:nvPr/>
        </p:nvSpPr>
        <p:spPr>
          <a:xfrm>
            <a:off x="8138160" y="5715000"/>
            <a:ext cx="3611880" cy="45720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Mục tiêu: 55K trả phí + $4.2M ARR</a:t>
            </a:r>
            <a:endParaRPr lang="en-US" sz="1200" dirty="0"/>
          </a:p>
        </p:txBody>
      </p:sp>
      <p:sp>
        <p:nvSpPr>
          <p:cNvPr id="22" name="Text 20"/>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23" name="Text 21"/>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100" b="1" dirty="0">
                <a:solidFill>
                  <a:srgbClr val="FACC15"/>
                </a:solidFill>
                <a:latin typeface="Calibri" pitchFamily="34" charset="0"/>
                <a:ea typeface="Calibri" pitchFamily="34" charset="-122"/>
                <a:cs typeface="Calibri" pitchFamily="34" charset="-120"/>
              </a:rPr>
              <a:t>14 · RỦI RO</a:t>
            </a:r>
            <a:endParaRPr lang="en-US" sz="11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Sổ rủi ro và biện pháp</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200400"/>
                <a:gridCol w="1463040"/>
                <a:gridCol w="6400800"/>
              </a:tblGrid>
              <a:tr h="54864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Rủi ro</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Khả năng</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Giảm thiểu</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Chậm trễ KYC vendor</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Trung bình</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Hai providers song song: Sumsub + Trusting Social</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Payment processor chặn</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Thấp</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Stripe + PayPal + PAY IAI ONE song song</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Thay đổi luật (fintech VN)</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Trung bình</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Luật sư retained; cấu trúc cô lập hoạt động regulated</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Tốc độ tuyển dụng</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Trung-Cao</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Remote-first; equity comp; network founder</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Founder bus factor</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Trung bình</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Tuyển CTO Q3/2026; kỷ luật tài liệu; code review</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Cạnh tranh incumbent</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Thấp-Trung</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Moat kiến trúc + moat giọng nói</a:t>
                      </a:r>
                      <a:endParaRPr lang="en-US" sz="12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46520"/>
            <a:ext cx="5486400" cy="274320"/>
          </a:xfrm>
          <a:prstGeom prst="rect">
            <a:avLst/>
          </a:prstGeom>
          <a:noFill/>
          <a:ln/>
        </p:spPr>
        <p:txBody>
          <a:bodyPr wrap="square" rtlCol="0" anchor="ctr"/>
          <a:lstStyle/>
          <a:p>
            <a:pPr indent="0" marL="0">
              <a:buNone/>
            </a:pPr>
            <a:r>
              <a:rPr lang="en-US" sz="900" b="1" dirty="0">
                <a:solidFill>
                  <a:srgbClr val="475569"/>
                </a:solidFill>
                <a:latin typeface="Calibri" pitchFamily="34" charset="0"/>
                <a:ea typeface="Calibri" pitchFamily="34" charset="-122"/>
                <a:cs typeface="Calibri" pitchFamily="34" charset="-120"/>
              </a:rPr>
              <a:t>VETUONGLAI ECOSYSTEM</a:t>
            </a:r>
            <a:endParaRPr lang="en-US" sz="900" dirty="0"/>
          </a:p>
        </p:txBody>
      </p:sp>
      <p:sp>
        <p:nvSpPr>
          <p:cNvPr id="6" name="Text 3"/>
          <p:cNvSpPr/>
          <p:nvPr/>
        </p:nvSpPr>
        <p:spPr>
          <a:xfrm>
            <a:off x="6400800" y="6446520"/>
            <a:ext cx="521208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MẬT · 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371600"/>
            <a:ext cx="11064240" cy="91440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Cùng nhau xây dựng tương lai.</a:t>
            </a:r>
            <a:endParaRPr lang="en-US" sz="4200" dirty="0"/>
          </a:p>
        </p:txBody>
      </p:sp>
      <p:sp>
        <p:nvSpPr>
          <p:cNvPr id="3" name="Text 1"/>
          <p:cNvSpPr/>
          <p:nvPr/>
        </p:nvSpPr>
        <p:spPr>
          <a:xfrm>
            <a:off x="548640" y="2377440"/>
            <a:ext cx="11064240" cy="64008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Vetuonglai — Người Thật, Việc Thật, Bằng Chứng Kiểm Chứng Được</a:t>
            </a:r>
            <a:endParaRPr lang="en-US" sz="2000" dirty="0"/>
          </a:p>
        </p:txBody>
      </p:sp>
      <p:sp>
        <p:nvSpPr>
          <p:cNvPr id="4" name="Shape 2"/>
          <p:cNvSpPr/>
          <p:nvPr/>
        </p:nvSpPr>
        <p:spPr>
          <a:xfrm>
            <a:off x="548640" y="3200400"/>
            <a:ext cx="1371600" cy="54864"/>
          </a:xfrm>
          <a:prstGeom prst="rect">
            <a:avLst/>
          </a:prstGeom>
          <a:solidFill>
            <a:srgbClr val="FACC15"/>
          </a:solidFill>
          <a:ln/>
        </p:spPr>
      </p:sp>
      <p:sp>
        <p:nvSpPr>
          <p:cNvPr id="5" name="Text 3"/>
          <p:cNvSpPr/>
          <p:nvPr/>
        </p:nvSpPr>
        <p:spPr>
          <a:xfrm>
            <a:off x="548640" y="3566160"/>
            <a:ext cx="11064240" cy="365760"/>
          </a:xfrm>
          <a:prstGeom prst="rect">
            <a:avLst/>
          </a:prstGeom>
          <a:noFill/>
          <a:ln/>
        </p:spPr>
        <p:txBody>
          <a:bodyPr wrap="square" rtlCol="0" anchor="ctr"/>
          <a:lstStyle/>
          <a:p>
            <a:pPr indent="0" marL="0">
              <a:buNone/>
            </a:pPr>
            <a:r>
              <a:rPr lang="en-US" sz="1200" b="1" dirty="0">
                <a:solidFill>
                  <a:srgbClr val="FACC15"/>
                </a:solidFill>
                <a:latin typeface="Calibri" pitchFamily="34" charset="0"/>
                <a:ea typeface="Calibri" pitchFamily="34" charset="-122"/>
                <a:cs typeface="Calibri" pitchFamily="34" charset="-120"/>
              </a:rPr>
              <a:t>LIÊN HỆ NHÀ ĐẦU TƯ</a:t>
            </a:r>
            <a:endParaRPr lang="en-US" sz="1200" dirty="0"/>
          </a:p>
        </p:txBody>
      </p:sp>
      <p:sp>
        <p:nvSpPr>
          <p:cNvPr id="6" name="Text 4"/>
          <p:cNvSpPr/>
          <p:nvPr/>
        </p:nvSpPr>
        <p:spPr>
          <a:xfrm>
            <a:off x="548640" y="3931920"/>
            <a:ext cx="1106424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invest@vetuonglai.com</a:t>
            </a:r>
            <a:endParaRPr lang="en-US" sz="2400" dirty="0"/>
          </a:p>
        </p:txBody>
      </p:sp>
      <p:sp>
        <p:nvSpPr>
          <p:cNvPr id="7" name="Text 5"/>
          <p:cNvSpPr/>
          <p:nvPr/>
        </p:nvSpPr>
        <p:spPr>
          <a:xfrm>
            <a:off x="548640" y="4389120"/>
            <a:ext cx="11064240" cy="45720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https://vetuonglai.com</a:t>
            </a:r>
            <a:endParaRPr lang="en-US" sz="2000" dirty="0"/>
          </a:p>
        </p:txBody>
      </p:sp>
      <p:sp>
        <p:nvSpPr>
          <p:cNvPr id="8" name="Text 6"/>
          <p:cNvSpPr/>
          <p:nvPr/>
        </p:nvSpPr>
        <p:spPr>
          <a:xfrm>
            <a:off x="548640" y="5212080"/>
            <a:ext cx="11064240" cy="365760"/>
          </a:xfrm>
          <a:prstGeom prst="rect">
            <a:avLst/>
          </a:prstGeom>
          <a:noFill/>
          <a:ln/>
        </p:spPr>
        <p:txBody>
          <a:bodyPr wrap="square" rtlCol="0" anchor="ctr"/>
          <a:lstStyle/>
          <a:p>
            <a:pPr indent="0" marL="0">
              <a:buNone/>
            </a:pPr>
            <a:r>
              <a:rPr lang="en-US" sz="1200" b="1" dirty="0">
                <a:solidFill>
                  <a:srgbClr val="FACC15"/>
                </a:solidFill>
                <a:latin typeface="Calibri" pitchFamily="34" charset="0"/>
                <a:ea typeface="Calibri" pitchFamily="34" charset="-122"/>
                <a:cs typeface="Calibri" pitchFamily="34" charset="-120"/>
              </a:rPr>
              <a:t>CÁC BƯỚC TIẾP THEO</a:t>
            </a:r>
            <a:endParaRPr lang="en-US" sz="1200" dirty="0"/>
          </a:p>
        </p:txBody>
      </p:sp>
      <p:sp>
        <p:nvSpPr>
          <p:cNvPr id="9" name="Text 7"/>
          <p:cNvSpPr/>
          <p:nvPr/>
        </p:nvSpPr>
        <p:spPr>
          <a:xfrm>
            <a:off x="548640" y="5532120"/>
            <a:ext cx="11064240" cy="100584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1. Xem xét term sheet (trong 14 ngày)</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2. Thẩm định kỹ thuật — walkthrough code, sổ hạ tầng, smoke tests</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3. Gọi tham khảo khách hàng — pilots, đối tác, B2B sớm</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4. Q&amp;A với Founder + đào sâu roadmap (90 phút)</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5. Cam kết cuối + đóng vòng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Vetuonglai Pitch Nhà đầu tư</dc:title>
  <dc:subject>PptxGenJS Presentation</dc:subject>
  <dc:creator>Vetuonglai</dc:creator>
  <cp:lastModifiedBy>Vetuonglai</cp:lastModifiedBy>
  <cp:revision>1</cp:revision>
  <dcterms:created xsi:type="dcterms:W3CDTF">2026-05-22T13:15:24Z</dcterms:created>
  <dcterms:modified xsi:type="dcterms:W3CDTF">2026-05-22T13:15:24Z</dcterms:modified>
</cp:coreProperties>
</file>