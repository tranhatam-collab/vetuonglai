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People · Real Work · Verifiable Proof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2194560"/>
            <a:ext cx="109728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VETUONGLAI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548640" y="36576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Vietnam's First Identity-First Super-App Ecosystem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48640" y="4572000"/>
            <a:ext cx="1097280" cy="73152"/>
          </a:xfrm>
          <a:prstGeom prst="rect">
            <a:avLst/>
          </a:prstGeom>
          <a:solidFill>
            <a:srgbClr val="FACC15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47548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Investor Pitch · May 2026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621792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ACC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STRICTLY CONFIDENTIAL — Authorized Recipients Only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ACC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THE PROBLEM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identity is fragmented across Vietnam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45920"/>
            <a:ext cx="548640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200"/>
              </a:spcAft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Vietnamese users live in disconnected silos. A learner's certificate from a private course has no value at a job platform. A freelancer's reputation on one marketplace can't transfer to another. A creator's audience on Facebook is captive — they can't migrate.</a:t>
            </a:r>
            <a:endParaRPr lang="en-US" sz="1600" dirty="0"/>
          </a:p>
          <a:p>
            <a:pPr indent="0" marL="0">
              <a:spcAft>
                <a:spcPts val="1200"/>
              </a:spcAft>
              <a:buNone/>
            </a:pPr>
            <a:endParaRPr lang="en-US" sz="16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platform owns the user's identity, but no platform owns portable, user-controlled verification.</a:t>
            </a:r>
            <a:endParaRPr lang="en-US" sz="1600" dirty="0"/>
          </a:p>
          <a:p>
            <a:pPr indent="0" marL="0">
              <a:spcAft>
                <a:spcPts val="1200"/>
              </a:spcAft>
              <a:buNone/>
            </a:pPr>
            <a:endParaRPr lang="en-US" sz="16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result: high friction, low trust, repeated KYC, no shared infrastructure for the next decade of the digital economy.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0" y="1645920"/>
            <a:ext cx="5120640" cy="9144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6537960" y="1691640"/>
            <a:ext cx="2286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ACC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77M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8869680" y="1737360"/>
            <a:ext cx="2651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Vietnam internet users · no portable digital ID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400800" y="2697480"/>
            <a:ext cx="5120640" cy="9144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9" name="Text 7"/>
          <p:cNvSpPr/>
          <p:nvPr/>
        </p:nvSpPr>
        <p:spPr>
          <a:xfrm>
            <a:off x="6537960" y="2743200"/>
            <a:ext cx="2286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ACC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5.3M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8869680" y="2788920"/>
            <a:ext cx="2651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Diaspora · underserved by Vietnamese-language identity products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400800" y="3749040"/>
            <a:ext cx="5120640" cy="9144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2" name="Text 10"/>
          <p:cNvSpPr/>
          <p:nvPr/>
        </p:nvSpPr>
        <p:spPr>
          <a:xfrm>
            <a:off x="6537960" y="3794760"/>
            <a:ext cx="2286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ACC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$19B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8869680" y="3840480"/>
            <a:ext cx="2651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remittances to Vietnam · trust friction costs 2-4% per transaction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400800" y="4800600"/>
            <a:ext cx="5120640" cy="9144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5" name="Text 13"/>
          <p:cNvSpPr/>
          <p:nvPr/>
        </p:nvSpPr>
        <p:spPr>
          <a:xfrm>
            <a:off x="6537960" y="4846320"/>
            <a:ext cx="2286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ACC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145%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8869680" y="4892040"/>
            <a:ext cx="2651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Increase in education fraud incidents 2020-2024 (global)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VETUONGLAI ECOSYSTEM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· 2 / 16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ACC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THE SOLUTION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identity. One wallet. One proof layer.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Vetuonglai unifies 16 subdomains around a single Verifiable Credentials identity and a deterministic wallet.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48640" y="2468880"/>
            <a:ext cx="3566160" cy="3474720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6" name="Shape 4"/>
          <p:cNvSpPr/>
          <p:nvPr/>
        </p:nvSpPr>
        <p:spPr>
          <a:xfrm>
            <a:off x="822960" y="269748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6974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463040" y="269748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(vtl1 + VC)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22960" y="3383280"/>
            <a:ext cx="310896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signup auto-receives a vtl1 wallet address (Bech32-style, 36 chars). The same address anchors W3C-compliant Verifiable Credentials — course completion, job history, KYC. Portable, signed, verifiable without contacting our servers.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325112" y="2468880"/>
            <a:ext cx="3566160" cy="3474720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11" name="Shape 9"/>
          <p:cNvSpPr/>
          <p:nvPr/>
        </p:nvSpPr>
        <p:spPr>
          <a:xfrm>
            <a:off x="4599432" y="269748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2" name="Text 10"/>
          <p:cNvSpPr/>
          <p:nvPr/>
        </p:nvSpPr>
        <p:spPr>
          <a:xfrm>
            <a:off x="4599432" y="26974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5239512" y="269748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Wallet (VND ledger)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599432" y="3383280"/>
            <a:ext cx="310896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Pending, available, tax-held, withdrawn balances. 11 API endpoints: credit, debit, transfer, payout request, settlement, KYC, history. Idempotency-key protected. Internal token auth for B2B credit/debit calls.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101584" y="2468880"/>
            <a:ext cx="3566160" cy="3474720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16" name="Shape 14"/>
          <p:cNvSpPr/>
          <p:nvPr/>
        </p:nvSpPr>
        <p:spPr>
          <a:xfrm>
            <a:off x="8375904" y="269748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7" name="Text 15"/>
          <p:cNvSpPr/>
          <p:nvPr/>
        </p:nvSpPr>
        <p:spPr>
          <a:xfrm>
            <a:off x="8375904" y="26974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9015984" y="269748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&amp; voice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8375904" y="3383280"/>
            <a:ext cx="310896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voice attributes (Real, Warm, Practical, Awake, Intentional) strictly forbid get-rich-quick framings and dark patterns. Bilingual day-one. Long-term trust mode that compounds faster than ads can buy reach.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VETUONGLAI ECOSYSTEM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· 3 / 16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ACC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PRODUCT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subdomains, one unified identity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domain serves one pillar; all share the same wallet + identity layer.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194560"/>
            <a:ext cx="2697480" cy="960120"/>
          </a:xfrm>
          <a:prstGeom prst="rect">
            <a:avLst/>
          </a:prstGeom>
          <a:solidFill>
            <a:srgbClr val="1E2761"/>
          </a:solidFill>
          <a:ln w="6350">
            <a:solidFill>
              <a:srgbClr val="1E27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2286000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vetuonglai.com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606040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· system map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337560" y="2194560"/>
            <a:ext cx="2697480" cy="960120"/>
          </a:xfrm>
          <a:prstGeom prst="rect">
            <a:avLst/>
          </a:prstGeom>
          <a:solidFill>
            <a:srgbClr val="CADCFC"/>
          </a:solidFill>
          <a:ln w="6350">
            <a:solidFill>
              <a:srgbClr val="1E276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29000" y="2286000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vc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429000" y="2606040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· Verifiable Credentials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126480" y="2194560"/>
            <a:ext cx="2697480" cy="960120"/>
          </a:xfrm>
          <a:prstGeom prst="rect">
            <a:avLst/>
          </a:prstGeom>
          <a:solidFill>
            <a:srgbClr val="CADCFC"/>
          </a:solidFill>
          <a:ln w="6350">
            <a:solidFill>
              <a:srgbClr val="1E276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17920" y="2286000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217920" y="2606040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· Dashboard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8915400" y="2194560"/>
            <a:ext cx="2697480" cy="960120"/>
          </a:xfrm>
          <a:prstGeom prst="rect">
            <a:avLst/>
          </a:prstGeom>
          <a:solidFill>
            <a:srgbClr val="CADCFC"/>
          </a:solidFill>
          <a:ln w="6350">
            <a:solidFill>
              <a:srgbClr val="1E276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006840" y="2286000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9006840" y="2606040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· Courses + AI tutor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48640" y="3246120"/>
            <a:ext cx="2697480" cy="960120"/>
          </a:xfrm>
          <a:prstGeom prst="rect">
            <a:avLst/>
          </a:prstGeom>
          <a:solidFill>
            <a:srgbClr val="CADCFC"/>
          </a:solidFill>
          <a:ln w="6350">
            <a:solidFill>
              <a:srgbClr val="1E276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3337560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40080" y="3657600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· Personal finance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337560" y="3246120"/>
            <a:ext cx="2697480" cy="960120"/>
          </a:xfrm>
          <a:prstGeom prst="rect">
            <a:avLst/>
          </a:prstGeom>
          <a:solidFill>
            <a:srgbClr val="CADCFC"/>
          </a:solidFill>
          <a:ln w="6350">
            <a:solidFill>
              <a:srgbClr val="1E276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429000" y="3337560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429000" y="3657600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· Investment guidance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126480" y="3246120"/>
            <a:ext cx="2697480" cy="960120"/>
          </a:xfrm>
          <a:prstGeom prst="rect">
            <a:avLst/>
          </a:prstGeom>
          <a:solidFill>
            <a:srgbClr val="CADCFC"/>
          </a:solidFill>
          <a:ln w="6350">
            <a:solidFill>
              <a:srgbClr val="1E276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217920" y="3337560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217920" y="3657600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Mission · Jobs + escrow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8915400" y="3246120"/>
            <a:ext cx="2697480" cy="960120"/>
          </a:xfrm>
          <a:prstGeom prst="rect">
            <a:avLst/>
          </a:prstGeom>
          <a:solidFill>
            <a:srgbClr val="CADCFC"/>
          </a:solidFill>
          <a:ln w="6350">
            <a:solidFill>
              <a:srgbClr val="1E276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006840" y="3337560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9006840" y="3657600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Mission · B2B credentials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548640" y="4297680"/>
            <a:ext cx="2697480" cy="960120"/>
          </a:xfrm>
          <a:prstGeom prst="rect">
            <a:avLst/>
          </a:prstGeom>
          <a:solidFill>
            <a:srgbClr val="CADCFC"/>
          </a:solidFill>
          <a:ln w="6350">
            <a:solidFill>
              <a:srgbClr val="1E276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0080" y="4389120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40080" y="4709160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Earth · Sustainability proof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3337560" y="4297680"/>
            <a:ext cx="2697480" cy="960120"/>
          </a:xfrm>
          <a:prstGeom prst="rect">
            <a:avLst/>
          </a:prstGeom>
          <a:solidFill>
            <a:srgbClr val="CADCFC"/>
          </a:solidFill>
          <a:ln w="6350">
            <a:solidFill>
              <a:srgbClr val="1E276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429000" y="4389120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3429000" y="4709160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 · Habits + wellbeing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6126480" y="4297680"/>
            <a:ext cx="2697480" cy="960120"/>
          </a:xfrm>
          <a:prstGeom prst="rect">
            <a:avLst/>
          </a:prstGeom>
          <a:solidFill>
            <a:srgbClr val="CADCFC"/>
          </a:solidFill>
          <a:ln w="6350">
            <a:solidFill>
              <a:srgbClr val="1E276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217920" y="4389120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6217920" y="4709160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· Verified creator marketplace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8915400" y="4297680"/>
            <a:ext cx="2697480" cy="960120"/>
          </a:xfrm>
          <a:prstGeom prst="rect">
            <a:avLst/>
          </a:prstGeom>
          <a:solidFill>
            <a:srgbClr val="CADCFC"/>
          </a:solidFill>
          <a:ln w="6350">
            <a:solidFill>
              <a:srgbClr val="1E2761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9006840" y="4389120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9006840" y="4709160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Stories · Circles + moderation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548640" y="5349240"/>
            <a:ext cx="2697480" cy="960120"/>
          </a:xfrm>
          <a:prstGeom prst="rect">
            <a:avLst/>
          </a:prstGeom>
          <a:solidFill>
            <a:srgbClr val="CADCFC"/>
          </a:solidFill>
          <a:ln w="6350">
            <a:solidFill>
              <a:srgbClr val="1E2761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40080" y="5440680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640080" y="5760720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· Productivity helper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3337560" y="5349240"/>
            <a:ext cx="2697480" cy="960120"/>
          </a:xfrm>
          <a:prstGeom prst="rect">
            <a:avLst/>
          </a:prstGeom>
          <a:solidFill>
            <a:srgbClr val="CADCFC"/>
          </a:solidFill>
          <a:ln w="6350">
            <a:solidFill>
              <a:srgbClr val="1E2761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429000" y="5440680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3429000" y="5760720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· Long-form + progress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6126480" y="5349240"/>
            <a:ext cx="2697480" cy="960120"/>
          </a:xfrm>
          <a:prstGeom prst="rect">
            <a:avLst/>
          </a:prstGeom>
          <a:solidFill>
            <a:srgbClr val="CADCFC"/>
          </a:solidFill>
          <a:ln w="6350">
            <a:solidFill>
              <a:srgbClr val="1E2761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217920" y="5440680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6217920" y="5760720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· Documentation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8915400" y="5349240"/>
            <a:ext cx="2697480" cy="960120"/>
          </a:xfrm>
          <a:prstGeom prst="rect">
            <a:avLst/>
          </a:prstGeom>
          <a:solidFill>
            <a:srgbClr val="1E2761"/>
          </a:solidFill>
          <a:ln w="6350">
            <a:solidFill>
              <a:srgbClr val="1E2761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9006840" y="5440680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kids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9006840" y="5760720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 (isolated) · Child-safe zone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VETUONGLAI ECOSYSTEM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· 4 / 16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ACC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TRACTION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Production-grade today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3657600" cy="1920240"/>
          </a:xfrm>
          <a:prstGeom prst="rect">
            <a:avLst/>
          </a:prstGeom>
          <a:solidFill>
            <a:srgbClr val="0F172A"/>
          </a:solidFill>
          <a:ln w="12700">
            <a:solidFill>
              <a:srgbClr val="FACC1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2148840"/>
            <a:ext cx="3383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ACC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7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685800" y="3017520"/>
            <a:ext cx="338328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Workers live on Cloudflare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versions 8d6d938f → aeaffe27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389120" y="2011680"/>
            <a:ext cx="3657600" cy="1920240"/>
          </a:xfrm>
          <a:prstGeom prst="rect">
            <a:avLst/>
          </a:prstGeom>
          <a:solidFill>
            <a:srgbClr val="0F172A"/>
          </a:solidFill>
          <a:ln w="12700">
            <a:solidFill>
              <a:srgbClr val="FACC1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26280" y="2148840"/>
            <a:ext cx="3383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ACC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4200" dirty="0"/>
          </a:p>
        </p:txBody>
      </p:sp>
      <p:sp>
        <p:nvSpPr>
          <p:cNvPr id="9" name="Text 7"/>
          <p:cNvSpPr/>
          <p:nvPr/>
        </p:nvSpPr>
        <p:spPr>
          <a:xfrm>
            <a:off x="4526280" y="3017520"/>
            <a:ext cx="338328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Transactional email templates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· payment · wallet · KYC · social · generic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229600" y="2011680"/>
            <a:ext cx="3657600" cy="1920240"/>
          </a:xfrm>
          <a:prstGeom prst="rect">
            <a:avLst/>
          </a:prstGeom>
          <a:solidFill>
            <a:srgbClr val="0F172A"/>
          </a:solidFill>
          <a:ln w="12700">
            <a:solidFill>
              <a:srgbClr val="FACC1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366760" y="2148840"/>
            <a:ext cx="3383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ACC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4200" dirty="0"/>
          </a:p>
        </p:txBody>
      </p:sp>
      <p:sp>
        <p:nvSpPr>
          <p:cNvPr id="12" name="Text 10"/>
          <p:cNvSpPr/>
          <p:nvPr/>
        </p:nvSpPr>
        <p:spPr>
          <a:xfrm>
            <a:off x="8366760" y="3017520"/>
            <a:ext cx="338328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Subdomains deployed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bilingual VI + EN day one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4114800"/>
            <a:ext cx="3657600" cy="1920240"/>
          </a:xfrm>
          <a:prstGeom prst="rect">
            <a:avLst/>
          </a:prstGeom>
          <a:solidFill>
            <a:srgbClr val="0F172A"/>
          </a:solidFill>
          <a:ln w="12700">
            <a:solidFill>
              <a:srgbClr val="FACC1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" y="4251960"/>
            <a:ext cx="3383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ACC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4200" dirty="0"/>
          </a:p>
        </p:txBody>
      </p:sp>
      <p:sp>
        <p:nvSpPr>
          <p:cNvPr id="15" name="Text 13"/>
          <p:cNvSpPr/>
          <p:nvPr/>
        </p:nvSpPr>
        <p:spPr>
          <a:xfrm>
            <a:off x="685800" y="5120640"/>
            <a:ext cx="338328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Wallet API endpoints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KV ledger · 100% smoke-test pass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389120" y="4114800"/>
            <a:ext cx="3657600" cy="1920240"/>
          </a:xfrm>
          <a:prstGeom prst="rect">
            <a:avLst/>
          </a:prstGeom>
          <a:solidFill>
            <a:srgbClr val="0F172A"/>
          </a:solidFill>
          <a:ln w="12700">
            <a:solidFill>
              <a:srgbClr val="FACC1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26280" y="4251960"/>
            <a:ext cx="3383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ACC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96%</a:t>
            </a:r>
            <a:endParaRPr lang="en-US" sz="4200" dirty="0"/>
          </a:p>
        </p:txBody>
      </p:sp>
      <p:sp>
        <p:nvSpPr>
          <p:cNvPr id="18" name="Text 16"/>
          <p:cNvSpPr/>
          <p:nvPr/>
        </p:nvSpPr>
        <p:spPr>
          <a:xfrm>
            <a:off x="4526280" y="5120640"/>
            <a:ext cx="338328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complete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Founder-supplied secrets remain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229600" y="4114800"/>
            <a:ext cx="3657600" cy="1920240"/>
          </a:xfrm>
          <a:prstGeom prst="rect">
            <a:avLst/>
          </a:prstGeom>
          <a:solidFill>
            <a:srgbClr val="0F172A"/>
          </a:solidFill>
          <a:ln w="12700">
            <a:solidFill>
              <a:srgbClr val="FACC1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366760" y="4251960"/>
            <a:ext cx="3383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ACC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&lt;4%</a:t>
            </a:r>
            <a:endParaRPr lang="en-US" sz="4200" dirty="0"/>
          </a:p>
        </p:txBody>
      </p:sp>
      <p:sp>
        <p:nvSpPr>
          <p:cNvPr id="21" name="Text 19"/>
          <p:cNvSpPr/>
          <p:nvPr/>
        </p:nvSpPr>
        <p:spPr>
          <a:xfrm>
            <a:off x="8366760" y="5120640"/>
            <a:ext cx="338328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 cost as % of revenue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(industry baseline: 15-25%)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VETUONGLAI ECOSYSTEM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· 5 / 16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ACC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MARKET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concentric markets, all reachable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459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2011680"/>
            <a:ext cx="3657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105M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548640" y="2743200"/>
            <a:ext cx="36576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Vietnamese-speaking globally: 100M in Vietnam + 5.3M diaspora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389120" y="16459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 (Year 1-2)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389120" y="2011680"/>
            <a:ext cx="3657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77M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4389120" y="2743200"/>
            <a:ext cx="36576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Vietnam internet users; 70M smartphone users with payment capability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229600" y="16459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ACC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 (Year 1)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229600" y="2011680"/>
            <a:ext cx="3657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12K</a:t>
            </a:r>
            <a:endParaRPr lang="en-US" sz="3800" dirty="0"/>
          </a:p>
        </p:txBody>
      </p:sp>
      <p:sp>
        <p:nvSpPr>
          <p:cNvPr id="12" name="Text 10"/>
          <p:cNvSpPr/>
          <p:nvPr/>
        </p:nvSpPr>
        <p:spPr>
          <a:xfrm>
            <a:off x="8229600" y="2743200"/>
            <a:ext cx="36576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Paid members; 120K free users (10:1 ratio); 0.16% of internet users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48640" y="4572000"/>
            <a:ext cx="1115568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3 expansion: 650M Southeast Asia. Year 4-5 expansion: 1.5B English-speaking. Bilingual + W3C VC standard make global rollout a port — no rebuild.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VETUONGLAI ECOSYSTEM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· 6 / 16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ACC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BUSINESS MODEL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complementary revenue streams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48640" cy="4572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64592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ACC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1097280" y="1645920"/>
            <a:ext cx="10515600" cy="457200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7" name="Text 5"/>
          <p:cNvSpPr/>
          <p:nvPr/>
        </p:nvSpPr>
        <p:spPr>
          <a:xfrm>
            <a:off x="1280160" y="164592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Access (lifetime unlock)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0" y="164592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B2C subscription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966960" y="164592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$99 / yr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2148840"/>
            <a:ext cx="548640" cy="4572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214884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ACC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1097280" y="2148840"/>
            <a:ext cx="10515600" cy="457200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13" name="Text 11"/>
          <p:cNvSpPr/>
          <p:nvPr/>
        </p:nvSpPr>
        <p:spPr>
          <a:xfrm>
            <a:off x="1280160" y="214884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Specialist Packs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400800" y="214884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B2C one-off purchases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966960" y="214884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$19-49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2651760"/>
            <a:ext cx="548640" cy="4572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265176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ACC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1097280" y="2651760"/>
            <a:ext cx="10515600" cy="457200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19" name="Text 17"/>
          <p:cNvSpPr/>
          <p:nvPr/>
        </p:nvSpPr>
        <p:spPr>
          <a:xfrm>
            <a:off x="1280160" y="265176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Marketplace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400800" y="265176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Escrow + payout fee on GMV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9966960" y="26517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8-10%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48640" y="3154680"/>
            <a:ext cx="548640" cy="4572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3" name="Text 21"/>
          <p:cNvSpPr/>
          <p:nvPr/>
        </p:nvSpPr>
        <p:spPr>
          <a:xfrm>
            <a:off x="548640" y="315468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ACC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1097280" y="3154680"/>
            <a:ext cx="10515600" cy="457200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25" name="Text 23"/>
          <p:cNvSpPr/>
          <p:nvPr/>
        </p:nvSpPr>
        <p:spPr>
          <a:xfrm>
            <a:off x="1280160" y="315468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Wallet Payout Fee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400800" y="315468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2%, Elite 0%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9966960" y="315468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2% / payout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48640" y="3657600"/>
            <a:ext cx="548640" cy="4572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9" name="Text 27"/>
          <p:cNvSpPr/>
          <p:nvPr/>
        </p:nvSpPr>
        <p:spPr>
          <a:xfrm>
            <a:off x="548640" y="365760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ACC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1097280" y="3657600"/>
            <a:ext cx="10515600" cy="457200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31" name="Text 29"/>
          <p:cNvSpPr/>
          <p:nvPr/>
        </p:nvSpPr>
        <p:spPr>
          <a:xfrm>
            <a:off x="1280160" y="365760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Affiliate Program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6400800" y="365760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 commissions pass-through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9966960" y="365760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10-20%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548640" y="4160520"/>
            <a:ext cx="548640" cy="4572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5" name="Text 33"/>
          <p:cNvSpPr/>
          <p:nvPr/>
        </p:nvSpPr>
        <p:spPr>
          <a:xfrm>
            <a:off x="548640" y="416052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ACC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1097280" y="4160520"/>
            <a:ext cx="10515600" cy="457200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37" name="Text 35"/>
          <p:cNvSpPr/>
          <p:nvPr/>
        </p:nvSpPr>
        <p:spPr>
          <a:xfrm>
            <a:off x="1280160" y="416052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B2B Identity Verification API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6400800" y="416052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Per-verification charge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9966960" y="416052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$0.50-2.00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548640" y="4663440"/>
            <a:ext cx="548640" cy="4572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41" name="Text 39"/>
          <p:cNvSpPr/>
          <p:nvPr/>
        </p:nvSpPr>
        <p:spPr>
          <a:xfrm>
            <a:off x="548640" y="466344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ACC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1097280" y="4663440"/>
            <a:ext cx="10515600" cy="457200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43" name="Text 41"/>
          <p:cNvSpPr/>
          <p:nvPr/>
        </p:nvSpPr>
        <p:spPr>
          <a:xfrm>
            <a:off x="1280160" y="466344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B2B VC Issuer Licensing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6400800" y="466344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issuer subscription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9966960" y="466344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$5K-25K / yr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548640" y="5166360"/>
            <a:ext cx="548640" cy="4572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47" name="Text 45"/>
          <p:cNvSpPr/>
          <p:nvPr/>
        </p:nvSpPr>
        <p:spPr>
          <a:xfrm>
            <a:off x="548640" y="516636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ACC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1097280" y="5166360"/>
            <a:ext cx="10515600" cy="457200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49" name="Text 47"/>
          <p:cNvSpPr/>
          <p:nvPr/>
        </p:nvSpPr>
        <p:spPr>
          <a:xfrm>
            <a:off x="1280160" y="516636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Tutor Premium</a:t>
            </a:r>
            <a:endParaRPr lang="en-US" sz="1300" dirty="0"/>
          </a:p>
        </p:txBody>
      </p:sp>
      <p:sp>
        <p:nvSpPr>
          <p:cNvPr id="50" name="Text 48"/>
          <p:cNvSpPr/>
          <p:nvPr/>
        </p:nvSpPr>
        <p:spPr>
          <a:xfrm>
            <a:off x="6400800" y="516636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 Claude integration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9966960" y="51663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$9.99 / mo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VETUONGLAI ECOSYSTEM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· 7 / 16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ACC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· PROJECTIONS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5-year financial trajectory</a:t>
            </a:r>
            <a:endParaRPr lang="en-US" sz="3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45920"/>
          <a:ext cx="1106424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1828800"/>
                <a:gridCol w="1828800"/>
                <a:gridCol w="1828800"/>
                <a:gridCol w="1828800"/>
                <a:gridCol w="192024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Year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Revenue ($M)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Paid members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Gross margin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EBITDA margin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Valuation mid ($M)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2026 (Y1)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$0.8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12,000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72%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-15%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2027 (Y2)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$4.2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55,000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76%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2028 (Y3)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$14.5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220,000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78%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$108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2029 (Y4)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620,000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$265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2030 (Y5)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$98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1,650,000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81%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$615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5029200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case scenario. Revenue multiple declines from 14x (Y1, pre-revenue method) to 6.3x (Y5, blended B2C + B2B SaaS). See Valuation Report for sensitivity analysis.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VETUONGLAI ECOSYSTEM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· 8 / 16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ACC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· RETURNS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Investor returns under three scenarios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3566160" cy="4389120"/>
          </a:xfrm>
          <a:prstGeom prst="rect">
            <a:avLst/>
          </a:prstGeom>
          <a:solidFill>
            <a:srgbClr val="CADCFC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78308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BEAR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46888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Y5 Revenue: $35M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31520" y="301752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Y5 Valuation: $175M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005840" y="3657600"/>
            <a:ext cx="265176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38404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Pre-dilution MOIC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31520" y="4206240"/>
            <a:ext cx="3200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12.5x</a:t>
            </a:r>
            <a:endParaRPr lang="en-US" sz="3800" dirty="0"/>
          </a:p>
        </p:txBody>
      </p:sp>
      <p:sp>
        <p:nvSpPr>
          <p:cNvPr id="11" name="Text 9"/>
          <p:cNvSpPr/>
          <p:nvPr/>
        </p:nvSpPr>
        <p:spPr>
          <a:xfrm>
            <a:off x="731520" y="5212080"/>
            <a:ext cx="32004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 adoption, Vietnam only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343400" y="1645920"/>
            <a:ext cx="3566160" cy="43891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26280" y="178308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ACC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526280" y="246888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Y5 Revenue: $98M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26280" y="301752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Y5 Valuation: $615M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800600" y="3657600"/>
            <a:ext cx="2651760" cy="0"/>
          </a:xfrm>
          <a:prstGeom prst="line">
            <a:avLst/>
          </a:prstGeom>
          <a:noFill/>
          <a:ln w="12700">
            <a:solidFill>
              <a:srgbClr val="FACC1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26280" y="38404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Pre-dilution MOIC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526280" y="4206240"/>
            <a:ext cx="3200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ACC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43.9x</a:t>
            </a:r>
            <a:endParaRPr lang="en-US" sz="3800" dirty="0"/>
          </a:p>
        </p:txBody>
      </p:sp>
      <p:sp>
        <p:nvSpPr>
          <p:cNvPr id="19" name="Text 17"/>
          <p:cNvSpPr/>
          <p:nvPr/>
        </p:nvSpPr>
        <p:spPr>
          <a:xfrm>
            <a:off x="4526280" y="5212080"/>
            <a:ext cx="32004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 execution per roadmap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8138160" y="1645920"/>
            <a:ext cx="3566160" cy="4389120"/>
          </a:xfrm>
          <a:prstGeom prst="rect">
            <a:avLst/>
          </a:prstGeom>
          <a:solidFill>
            <a:srgbClr val="CADCFC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321040" y="178308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BULL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8321040" y="246888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Y5 Revenue: $165M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321040" y="301752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Y5 Valuation: $1.15B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8595360" y="3657600"/>
            <a:ext cx="265176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321040" y="38404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Pre-dilution MOIC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8321040" y="4206240"/>
            <a:ext cx="3200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82.0x</a:t>
            </a:r>
            <a:endParaRPr lang="en-US" sz="3800" dirty="0"/>
          </a:p>
        </p:txBody>
      </p:sp>
      <p:sp>
        <p:nvSpPr>
          <p:cNvPr id="27" name="Text 25"/>
          <p:cNvSpPr/>
          <p:nvPr/>
        </p:nvSpPr>
        <p:spPr>
          <a:xfrm>
            <a:off x="8321040" y="5212080"/>
            <a:ext cx="32004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 + B2B accelerate; English early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VETUONGLAI ECOSYSTEM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· 9 / 16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ACC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· COMPETITION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Differentiation by category</a:t>
            </a:r>
            <a:endParaRPr lang="en-US" sz="30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45920"/>
          <a:ext cx="1106424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4114800"/>
                <a:gridCol w="5303520"/>
              </a:tblGrid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Lane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Incumbents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How we win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Edu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FUNiX, Topica, Coursera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Integrated wallet + VC credentials + Vietnamese-first voice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Wallet / Pay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MoMo, ZaloPay, VNPay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Identity-first ledger; deterministic addresses; multi-purpose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Jobs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TopCV, VietnamWorks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Escrow + verifiable work history + payout in one flow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Community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Facebook Groups, Zalo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Verified members; no ads; moderation; brand voice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Identity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Traditional KYC vendors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W3C VC standard; portable; user-owned credentials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VETUONGLAI ECOSYSTEM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· 10 / 16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ACC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· WHY NOW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converging tailwinds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440680" cy="2057400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192024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9202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ACC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554480" y="1920240"/>
            <a:ext cx="4297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ID mandate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2960" y="2651760"/>
            <a:ext cx="493776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Resolution 749/QĐ-TTg requires verifiable digital identity for all citizens by 2030. Vetuonglai is the first Vietnamese-native VC platform with shipped code.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172200" y="1645920"/>
            <a:ext cx="5440680" cy="2057400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10" name="Shape 8"/>
          <p:cNvSpPr/>
          <p:nvPr/>
        </p:nvSpPr>
        <p:spPr>
          <a:xfrm>
            <a:off x="6446520" y="192024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6446520" y="19202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ACC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7178040" y="1920240"/>
            <a:ext cx="4297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W3C VC mainstream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446520" y="2651760"/>
            <a:ext cx="493776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Microsoft, Workday, Mastercard launched VC-compatible products in 2024-2025. The standard is no longer experimental — it is the next infrastructure.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3840480"/>
            <a:ext cx="5440680" cy="2057400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15" name="Shape 13"/>
          <p:cNvSpPr/>
          <p:nvPr/>
        </p:nvSpPr>
        <p:spPr>
          <a:xfrm>
            <a:off x="822960" y="411480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41148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ACC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554480" y="4114800"/>
            <a:ext cx="4297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Vietnam fintech boom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22960" y="4846320"/>
            <a:ext cx="493776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Vietnam fintech market reaches $18B by 2025; mobile payment adoption grew 158% in 2024. Identity is the missing rail.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172200" y="3840480"/>
            <a:ext cx="5440680" cy="2057400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20" name="Shape 18"/>
          <p:cNvSpPr/>
          <p:nvPr/>
        </p:nvSpPr>
        <p:spPr>
          <a:xfrm>
            <a:off x="6446520" y="411480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1" name="Text 19"/>
          <p:cNvSpPr/>
          <p:nvPr/>
        </p:nvSpPr>
        <p:spPr>
          <a:xfrm>
            <a:off x="6446520" y="41148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ACC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7178040" y="4114800"/>
            <a:ext cx="4297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tutoring economics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446520" y="4846320"/>
            <a:ext cx="493776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Generative AI drops the cost of skill verification by ~70%. Without AI, our edu margins would be 35%; with AI, they exceed 78%.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VETUONGLAI ECOSYSTEM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· 11 / 16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ACC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· TEAM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Founder-led, hiring fast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11064240" cy="2286000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78308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 Ha Tam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822960" y="23317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ACC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 &amp; CEO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2960" y="2788920"/>
            <a:ext cx="105156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Shipped 96% of the production codebase between February and May 2026, including 16 subdomains, 9 runtime libraries, wallet system, identity verification, community, jobs marketplace, affiliate tracking, analytics, notifications, and admin CMS — all while maintaining brand voice discipline and bilingual coverage. Vietnamese-rooted, globally minded.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411480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6 months — key hires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8640" y="4572000"/>
            <a:ext cx="361188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470916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CTO / VP Engineering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31520" y="5074920"/>
            <a:ext cx="32918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Senior backend + systems architect; Vietnam or remote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343400" y="4572000"/>
            <a:ext cx="361188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26280" y="470916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 Growth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526280" y="5074920"/>
            <a:ext cx="32918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marketing across Vietnam + diaspora; B2B partnerships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8138160" y="4572000"/>
            <a:ext cx="361188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321040" y="470916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 of Compliance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321040" y="5074920"/>
            <a:ext cx="32918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Vietnam fintech regulation, SOC 2, GDPR, KYC vendor management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VETUONGLAI ECOSYSTEM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· 12 / 16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ACC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· THE ASK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Series Seed: USD 3M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Raising USD 3M at USD 11M post-money valuation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21945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SAFE or convertible note; 24-month runway target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926080"/>
            <a:ext cx="7315200" cy="502920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2926080"/>
            <a:ext cx="2926080" cy="5029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926080"/>
            <a:ext cx="914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ACC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40%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645920" y="2926080"/>
            <a:ext cx="5943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Talent (engineers, security, AI/ML, design, ops)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046720" y="292608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$1.2M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3520440"/>
            <a:ext cx="7315200" cy="502920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12" name="Shape 10"/>
          <p:cNvSpPr/>
          <p:nvPr/>
        </p:nvSpPr>
        <p:spPr>
          <a:xfrm>
            <a:off x="548640" y="3520440"/>
            <a:ext cx="2194560" cy="5029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3520440"/>
            <a:ext cx="914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ACC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30%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645920" y="3520440"/>
            <a:ext cx="5943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acquisition (performance, partnerships, content)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046720" y="352044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$0.9M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4114800"/>
            <a:ext cx="7315200" cy="502920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17" name="Shape 15"/>
          <p:cNvSpPr/>
          <p:nvPr/>
        </p:nvSpPr>
        <p:spPr>
          <a:xfrm>
            <a:off x="548640" y="4114800"/>
            <a:ext cx="1097280" cy="5029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4114800"/>
            <a:ext cx="914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ACC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15%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645920" y="4114800"/>
            <a:ext cx="5943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&amp; licensing (KYC, fintech, legal)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046720" y="411480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$0.45M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48640" y="4709160"/>
            <a:ext cx="7315200" cy="502920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22" name="Shape 20"/>
          <p:cNvSpPr/>
          <p:nvPr/>
        </p:nvSpPr>
        <p:spPr>
          <a:xfrm>
            <a:off x="548640" y="4709160"/>
            <a:ext cx="731520" cy="5029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" y="4709160"/>
            <a:ext cx="914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ACC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10%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645920" y="4709160"/>
            <a:ext cx="5943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 &amp; security (Cloudflare, monitoring, SOC 2)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8046720" y="470916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$0.3M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548640" y="5303520"/>
            <a:ext cx="7315200" cy="502920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27" name="Shape 25"/>
          <p:cNvSpPr/>
          <p:nvPr/>
        </p:nvSpPr>
        <p:spPr>
          <a:xfrm>
            <a:off x="548640" y="5303520"/>
            <a:ext cx="365760" cy="5029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8" name="Text 26"/>
          <p:cNvSpPr/>
          <p:nvPr/>
        </p:nvSpPr>
        <p:spPr>
          <a:xfrm>
            <a:off x="640080" y="5303520"/>
            <a:ext cx="914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ACC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5%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1645920" y="5303520"/>
            <a:ext cx="5943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capital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8046720" y="530352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$0.15M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VETUONGLAI ECOSYSTEM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· 13 / 16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ACC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· ROADMAP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activation to global expansion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3611880" cy="6400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69164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ACC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2286000"/>
            <a:ext cx="3611880" cy="457200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228600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0-6 · Activation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85800" y="2880360"/>
            <a:ext cx="338328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 unlocks live secrets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+ payments live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 launch to founder network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with 3 universities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5715000"/>
            <a:ext cx="3611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1,500 paid members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343400" y="1645920"/>
            <a:ext cx="3611880" cy="6400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4526280" y="169164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ACC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343400" y="2286000"/>
            <a:ext cx="3611880" cy="457200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13" name="Text 11"/>
          <p:cNvSpPr/>
          <p:nvPr/>
        </p:nvSpPr>
        <p:spPr>
          <a:xfrm>
            <a:off x="4526280" y="228600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6-12 · Scale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480560" y="2880360"/>
            <a:ext cx="338328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marketing live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B2B partner pilots × 5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KYC vendor live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Wallet payouts unlock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343400" y="5715000"/>
            <a:ext cx="3611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12K paid + $800K ARR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138160" y="1645920"/>
            <a:ext cx="3611880" cy="6400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7" name="Text 15"/>
          <p:cNvSpPr/>
          <p:nvPr/>
        </p:nvSpPr>
        <p:spPr>
          <a:xfrm>
            <a:off x="8321040" y="169164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ACC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8138160" y="2286000"/>
            <a:ext cx="3611880" cy="457200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19" name="Text 17"/>
          <p:cNvSpPr/>
          <p:nvPr/>
        </p:nvSpPr>
        <p:spPr>
          <a:xfrm>
            <a:off x="8321040" y="228600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12-24 · Regional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275320" y="2880360"/>
            <a:ext cx="338328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English diaspora activation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 payment rails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B2B VC licenses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Series A preparation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138160" y="5715000"/>
            <a:ext cx="3611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55K paid + $4.2M ARR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VETUONGLAI ECOSYSTEM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· 14 / 16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ACC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· RISK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register and mitigation</a:t>
            </a:r>
            <a:endParaRPr lang="en-US" sz="30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45920"/>
          <a:ext cx="11064240" cy="914400"/>
        </p:xfrm>
        <a:graphic>
          <a:graphicData uri="http://schemas.openxmlformats.org/drawingml/2006/table">
            <a:tbl>
              <a:tblPr/>
              <a:tblGrid>
                <a:gridCol w="3200400"/>
                <a:gridCol w="1463040"/>
                <a:gridCol w="640080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Likelihood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Mitigation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KYC vendor delays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Two providers in parallel: Sumsub + Trusting Social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Payment processor blocks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Stripe + PayPal + PAY IAI ONE in parallel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Regulatory change (VN fintech)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Legal counsel on retainer; structure isolates regulated activities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Talent acquisition speed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Med-High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Remote-first; equity comp; founder network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Founder bus factor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CTO hire Q3 2026; documentation discipline; code reviews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Incumbent competition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Low-Med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Architecture moat + voice moat; incumbents tied to old stacks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VETUONGLAI ECOSYSTEM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· 15 / 16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0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Let's build the future.</a:t>
            </a:r>
            <a:endParaRPr lang="en-US" sz="4200" dirty="0"/>
          </a:p>
        </p:txBody>
      </p:sp>
      <p:sp>
        <p:nvSpPr>
          <p:cNvPr id="3" name="Text 1"/>
          <p:cNvSpPr/>
          <p:nvPr/>
        </p:nvSpPr>
        <p:spPr>
          <a:xfrm>
            <a:off x="548640" y="23774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Vetuonglai — Real People, Real Work, Verifiable Proof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548640" y="3200400"/>
            <a:ext cx="1371600" cy="54864"/>
          </a:xfrm>
          <a:prstGeom prst="rect">
            <a:avLst/>
          </a:prstGeom>
          <a:solidFill>
            <a:srgbClr val="FACC15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356616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ACC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INVESTOR CONTACT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39319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invest@vetuonglai.com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48640" y="43891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https://vetuonglai.com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548640" y="521208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ACC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5532120"/>
            <a:ext cx="110642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Term sheet review (within 14 days)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Technical due diligence — code walkthrough, infrastructure ledger, smoke tests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Customer reference calls — pilots, partners, early B2B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Founder Q&amp;A + roadmap deep-dive (90 min)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Final commitment + closing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Vetuonglai Investor Pitch</dc:title>
  <dc:subject>PptxGenJS Presentation</dc:subject>
  <dc:creator>Vetuonglai</dc:creator>
  <cp:lastModifiedBy>Vetuonglai</cp:lastModifiedBy>
  <cp:revision>1</cp:revision>
  <dcterms:created xsi:type="dcterms:W3CDTF">2026-05-22T13:15:24Z</dcterms:created>
  <dcterms:modified xsi:type="dcterms:W3CDTF">2026-05-22T13:15:24Z</dcterms:modified>
</cp:coreProperties>
</file>